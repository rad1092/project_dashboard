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j90/A9JlTl+VkP0Xtph28hUWAJ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8F17FE-1BD8-4AFD-A12C-E02E504DA770}">
  <a:tblStyle styleId="{FC8F17FE-1BD8-4AFD-A12C-E02E504DA7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6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6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3B21871E-0802-4CDA-8723-84B3C599B62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3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3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5885D1E0-D0C7-46BD-8372-DBCEC0911285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5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재난 발생시 문자로는 정확한 대피소 파악하기 힘들며, 국민재난안전포털로 직접 방문해야 하는 번거로움이 있음</a:t>
            </a:r>
            <a:endParaRPr/>
          </a:p>
        </p:txBody>
      </p:sp>
      <p:sp>
        <p:nvSpPr>
          <p:cNvPr id="136" name="Google Shape;1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jpg"/><Relationship Id="rId5" Type="http://schemas.openxmlformats.org/officeDocument/2006/relationships/image" Target="../media/image6.png"/><Relationship Id="rId6" Type="http://schemas.openxmlformats.org/officeDocument/2006/relationships/image" Target="../media/image28.jp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jp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.jpg"/><Relationship Id="rId5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54.png"/><Relationship Id="rId7" Type="http://schemas.openxmlformats.org/officeDocument/2006/relationships/image" Target="../media/image21.png"/><Relationship Id="rId8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42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.jp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37.png"/><Relationship Id="rId5" Type="http://schemas.openxmlformats.org/officeDocument/2006/relationships/hyperlink" Target="https://hdc-khd-2.streamlit.app/" TargetMode="External"/><Relationship Id="rId6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31.png"/><Relationship Id="rId9" Type="http://schemas.openxmlformats.org/officeDocument/2006/relationships/image" Target="../media/image39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46.png"/><Relationship Id="rId8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5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4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Relationship Id="rId4" Type="http://schemas.openxmlformats.org/officeDocument/2006/relationships/image" Target="../media/image2.jpg"/><Relationship Id="rId5" Type="http://schemas.openxmlformats.org/officeDocument/2006/relationships/image" Target="../media/image5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0.png"/><Relationship Id="rId7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62C75"/>
            </a:gs>
            <a:gs pos="40000">
              <a:srgbClr val="1F4875"/>
            </a:gs>
            <a:gs pos="63000">
              <a:srgbClr val="195076"/>
            </a:gs>
            <a:gs pos="100000">
              <a:srgbClr val="431C76"/>
            </a:gs>
          </a:gsLst>
          <a:lin ang="3638535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-1057"/>
            <a:ext cx="4338256" cy="4508754"/>
          </a:xfrm>
          <a:custGeom>
            <a:rect b="b" l="l" r="r" t="t"/>
            <a:pathLst>
              <a:path extrusionOk="0" h="6011672" w="5784342">
                <a:moveTo>
                  <a:pt x="0" y="0"/>
                </a:moveTo>
                <a:lnTo>
                  <a:pt x="5784342" y="0"/>
                </a:lnTo>
                <a:lnTo>
                  <a:pt x="5784342" y="6011672"/>
                </a:lnTo>
                <a:lnTo>
                  <a:pt x="0" y="6011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-59020" r="0" t="-53007"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>
            <a:off x="1458687" y="2876550"/>
            <a:ext cx="15240000" cy="2388392"/>
            <a:chOff x="0" y="0"/>
            <a:chExt cx="20320000" cy="3184522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0320000" cy="3184519"/>
            </a:xfrm>
            <a:custGeom>
              <a:rect b="b" l="l" r="r" t="t"/>
              <a:pathLst>
                <a:path extrusionOk="0" h="3184519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3184519"/>
                  </a:lnTo>
                  <a:lnTo>
                    <a:pt x="0" y="318451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329" l="0" r="0" t="-74329"/>
              </a:stretch>
            </a:blipFill>
            <a:ln>
              <a:noFill/>
            </a:ln>
          </p:spPr>
        </p:sp>
        <p:sp>
          <p:nvSpPr>
            <p:cNvPr id="91" name="Google Shape;91;p1"/>
            <p:cNvSpPr txBox="1"/>
            <p:nvPr/>
          </p:nvSpPr>
          <p:spPr>
            <a:xfrm>
              <a:off x="0" y="76200"/>
              <a:ext cx="20320000" cy="3108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실시간 재난 대피 지원 시스템</a:t>
              </a:r>
              <a:endParaRPr/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2286000" y="5403056"/>
            <a:ext cx="13716000" cy="1112043"/>
            <a:chOff x="0" y="0"/>
            <a:chExt cx="18288000" cy="1482724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18288000" cy="1482723"/>
            </a:xfrm>
            <a:custGeom>
              <a:rect b="b" l="l" r="r" t="t"/>
              <a:pathLst>
                <a:path extrusionOk="0" h="1482723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482723"/>
                  </a:lnTo>
                  <a:lnTo>
                    <a:pt x="0" y="148272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90338" l="0" r="0" t="-190338"/>
              </a:stretch>
            </a:blipFill>
            <a:ln>
              <a:noFill/>
            </a:ln>
          </p:spPr>
        </p:sp>
        <p:sp>
          <p:nvSpPr>
            <p:cNvPr id="94" name="Google Shape;94;p1"/>
            <p:cNvSpPr txBox="1"/>
            <p:nvPr/>
          </p:nvSpPr>
          <p:spPr>
            <a:xfrm>
              <a:off x="0" y="38100"/>
              <a:ext cx="18288000" cy="14446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7C8F8"/>
                  </a:solidFill>
                  <a:latin typeface="Arial"/>
                  <a:ea typeface="Arial"/>
                  <a:cs typeface="Arial"/>
                  <a:sym typeface="Arial"/>
                </a:rPr>
                <a:t>재난문자를 넘어, 즉시 행동할 수 있는 위치 맞춤형 대피 안내</a:t>
              </a:r>
              <a:endParaRPr/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2281238" y="7405688"/>
            <a:ext cx="13725525" cy="1121854"/>
            <a:chOff x="0" y="0"/>
            <a:chExt cx="18300700" cy="1495806"/>
          </a:xfrm>
        </p:grpSpPr>
        <p:sp>
          <p:nvSpPr>
            <p:cNvPr id="96" name="Google Shape;96;p1"/>
            <p:cNvSpPr/>
            <p:nvPr/>
          </p:nvSpPr>
          <p:spPr>
            <a:xfrm>
              <a:off x="6350" y="6350"/>
              <a:ext cx="18288000" cy="1483106"/>
            </a:xfrm>
            <a:custGeom>
              <a:rect b="b" l="l" r="r" t="t"/>
              <a:pathLst>
                <a:path extrusionOk="0" h="1483106" w="18288000">
                  <a:moveTo>
                    <a:pt x="0" y="247142"/>
                  </a:moveTo>
                  <a:cubicBezTo>
                    <a:pt x="0" y="110617"/>
                    <a:pt x="111506" y="0"/>
                    <a:pt x="249174" y="0"/>
                  </a:cubicBezTo>
                  <a:lnTo>
                    <a:pt x="18038826" y="0"/>
                  </a:lnTo>
                  <a:cubicBezTo>
                    <a:pt x="18176367" y="0"/>
                    <a:pt x="18288000" y="110617"/>
                    <a:pt x="18288000" y="247142"/>
                  </a:cubicBezTo>
                  <a:lnTo>
                    <a:pt x="18288000" y="1235964"/>
                  </a:lnTo>
                  <a:cubicBezTo>
                    <a:pt x="18288000" y="1372489"/>
                    <a:pt x="18176494" y="1483106"/>
                    <a:pt x="18038826" y="1483106"/>
                  </a:cubicBezTo>
                  <a:lnTo>
                    <a:pt x="249174" y="1483106"/>
                  </a:lnTo>
                  <a:cubicBezTo>
                    <a:pt x="111506" y="1483233"/>
                    <a:pt x="0" y="1372489"/>
                    <a:pt x="0" y="1235964"/>
                  </a:cubicBezTo>
                  <a:close/>
                </a:path>
              </a:pathLst>
            </a:custGeom>
            <a:solidFill>
              <a:srgbClr val="A5A5A5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0" y="0"/>
              <a:ext cx="18300700" cy="1495806"/>
            </a:xfrm>
            <a:custGeom>
              <a:rect b="b" l="l" r="r" t="t"/>
              <a:pathLst>
                <a:path extrusionOk="0" h="1495806" w="18300700">
                  <a:moveTo>
                    <a:pt x="0" y="253492"/>
                  </a:moveTo>
                  <a:cubicBezTo>
                    <a:pt x="0" y="113411"/>
                    <a:pt x="114427" y="0"/>
                    <a:pt x="255524" y="0"/>
                  </a:cubicBezTo>
                  <a:lnTo>
                    <a:pt x="18045176" y="0"/>
                  </a:lnTo>
                  <a:lnTo>
                    <a:pt x="18045176" y="6350"/>
                  </a:lnTo>
                  <a:lnTo>
                    <a:pt x="18045176" y="0"/>
                  </a:lnTo>
                  <a:cubicBezTo>
                    <a:pt x="18186273" y="0"/>
                    <a:pt x="18300700" y="113411"/>
                    <a:pt x="18300700" y="253492"/>
                  </a:cubicBezTo>
                  <a:lnTo>
                    <a:pt x="18294350" y="253492"/>
                  </a:lnTo>
                  <a:lnTo>
                    <a:pt x="18300700" y="253492"/>
                  </a:lnTo>
                  <a:lnTo>
                    <a:pt x="18300700" y="1242314"/>
                  </a:lnTo>
                  <a:lnTo>
                    <a:pt x="18294350" y="1242314"/>
                  </a:lnTo>
                  <a:lnTo>
                    <a:pt x="18300700" y="1242314"/>
                  </a:lnTo>
                  <a:cubicBezTo>
                    <a:pt x="18300700" y="1382395"/>
                    <a:pt x="18186273" y="1495806"/>
                    <a:pt x="18045176" y="1495806"/>
                  </a:cubicBezTo>
                  <a:lnTo>
                    <a:pt x="18045176" y="1489456"/>
                  </a:lnTo>
                  <a:lnTo>
                    <a:pt x="18045176" y="1495806"/>
                  </a:lnTo>
                  <a:lnTo>
                    <a:pt x="255524" y="1495806"/>
                  </a:lnTo>
                  <a:lnTo>
                    <a:pt x="255524" y="1489456"/>
                  </a:lnTo>
                  <a:lnTo>
                    <a:pt x="255524" y="1495806"/>
                  </a:lnTo>
                  <a:cubicBezTo>
                    <a:pt x="114427" y="1495933"/>
                    <a:pt x="0" y="1382395"/>
                    <a:pt x="0" y="1242314"/>
                  </a:cubicBezTo>
                  <a:lnTo>
                    <a:pt x="0" y="253492"/>
                  </a:lnTo>
                  <a:lnTo>
                    <a:pt x="6350" y="253492"/>
                  </a:lnTo>
                  <a:lnTo>
                    <a:pt x="0" y="253492"/>
                  </a:lnTo>
                  <a:moveTo>
                    <a:pt x="12700" y="253492"/>
                  </a:moveTo>
                  <a:lnTo>
                    <a:pt x="12700" y="1242314"/>
                  </a:lnTo>
                  <a:lnTo>
                    <a:pt x="6350" y="1242314"/>
                  </a:lnTo>
                  <a:lnTo>
                    <a:pt x="12700" y="1242314"/>
                  </a:lnTo>
                  <a:cubicBezTo>
                    <a:pt x="12700" y="1375283"/>
                    <a:pt x="121412" y="1483106"/>
                    <a:pt x="255524" y="1483106"/>
                  </a:cubicBezTo>
                  <a:lnTo>
                    <a:pt x="18045176" y="1483106"/>
                  </a:lnTo>
                  <a:cubicBezTo>
                    <a:pt x="18179289" y="1483106"/>
                    <a:pt x="18288000" y="1375283"/>
                    <a:pt x="18288000" y="1242314"/>
                  </a:cubicBezTo>
                  <a:lnTo>
                    <a:pt x="18288000" y="253492"/>
                  </a:lnTo>
                  <a:cubicBezTo>
                    <a:pt x="18288000" y="120523"/>
                    <a:pt x="18179287" y="12700"/>
                    <a:pt x="18045176" y="12700"/>
                  </a:cubicBezTo>
                  <a:lnTo>
                    <a:pt x="255524" y="12700"/>
                  </a:lnTo>
                  <a:lnTo>
                    <a:pt x="255524" y="6350"/>
                  </a:lnTo>
                  <a:lnTo>
                    <a:pt x="255524" y="12700"/>
                  </a:lnTo>
                  <a:cubicBezTo>
                    <a:pt x="121412" y="12700"/>
                    <a:pt x="12700" y="120523"/>
                    <a:pt x="12700" y="253492"/>
                  </a:cubicBezTo>
                  <a:close/>
                </a:path>
              </a:pathLst>
            </a:custGeom>
            <a:solidFill>
              <a:srgbClr val="F168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"/>
          <p:cNvSpPr txBox="1"/>
          <p:nvPr/>
        </p:nvSpPr>
        <p:spPr>
          <a:xfrm>
            <a:off x="3072765" y="7716317"/>
            <a:ext cx="1214247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HDC랩스 AIoT 울산 2조 - 김홍대, 남연정, 오승주, 최해목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9520" y="9624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105" name="Google Shape;105;p2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" name="Google Shape;106;p2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2" name="Google Shape;112;p2"/>
          <p:cNvCxnSpPr/>
          <p:nvPr/>
        </p:nvCxnSpPr>
        <p:spPr>
          <a:xfrm>
            <a:off x="1181103" y="2652150"/>
            <a:ext cx="2220293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2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" name="Google Shape;115;p2"/>
          <p:cNvGrpSpPr/>
          <p:nvPr/>
        </p:nvGrpSpPr>
        <p:grpSpPr>
          <a:xfrm>
            <a:off x="978951" y="3103788"/>
            <a:ext cx="5206089" cy="6659337"/>
            <a:chOff x="978951" y="3103788"/>
            <a:chExt cx="5206089" cy="6659337"/>
          </a:xfrm>
        </p:grpSpPr>
        <p:sp>
          <p:nvSpPr>
            <p:cNvPr id="116" name="Google Shape;116;p2"/>
            <p:cNvSpPr/>
            <p:nvPr/>
          </p:nvSpPr>
          <p:spPr>
            <a:xfrm>
              <a:off x="978951" y="3103788"/>
              <a:ext cx="5206089" cy="6659337"/>
            </a:xfrm>
            <a:custGeom>
              <a:rect b="b" l="l" r="r" t="t"/>
              <a:pathLst>
                <a:path extrusionOk="0" h="6659337" w="5206089">
                  <a:moveTo>
                    <a:pt x="0" y="0"/>
                  </a:moveTo>
                  <a:lnTo>
                    <a:pt x="5206089" y="0"/>
                  </a:lnTo>
                  <a:lnTo>
                    <a:pt x="5206089" y="6659337"/>
                  </a:lnTo>
                  <a:lnTo>
                    <a:pt x="0" y="6659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978951" y="3699100"/>
              <a:ext cx="242244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0" u="none" cap="none" strike="noStrike">
                  <a:solidFill>
                    <a:srgbClr val="62B2FA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1586484" y="5302196"/>
              <a:ext cx="1904067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서론</a:t>
              </a:r>
              <a:endParaRPr/>
            </a:p>
          </p:txBody>
        </p:sp>
        <p:cxnSp>
          <p:nvCxnSpPr>
            <p:cNvPr id="119" name="Google Shape;119;p2"/>
            <p:cNvCxnSpPr/>
            <p:nvPr/>
          </p:nvCxnSpPr>
          <p:spPr>
            <a:xfrm>
              <a:off x="1666875" y="5942363"/>
              <a:ext cx="548073" cy="0"/>
            </a:xfrm>
            <a:prstGeom prst="straightConnector1">
              <a:avLst/>
            </a:prstGeom>
            <a:noFill/>
            <a:ln cap="rnd" cmpd="sng" w="28575">
              <a:solidFill>
                <a:srgbClr val="62B2F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" name="Google Shape;120;p2"/>
            <p:cNvSpPr txBox="1"/>
            <p:nvPr/>
          </p:nvSpPr>
          <p:spPr>
            <a:xfrm>
              <a:off x="1386840" y="5989320"/>
              <a:ext cx="4370070" cy="754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44316" lvl="1" marL="488632" marR="0" rtl="0" algn="l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프로젝트 목표</a:t>
              </a:r>
              <a:endParaRPr b="0" i="0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6540951" y="3103788"/>
            <a:ext cx="5206089" cy="6659337"/>
            <a:chOff x="6540951" y="3103788"/>
            <a:chExt cx="5206089" cy="6659337"/>
          </a:xfrm>
        </p:grpSpPr>
        <p:sp>
          <p:nvSpPr>
            <p:cNvPr id="122" name="Google Shape;122;p2"/>
            <p:cNvSpPr/>
            <p:nvPr/>
          </p:nvSpPr>
          <p:spPr>
            <a:xfrm>
              <a:off x="6540951" y="3103788"/>
              <a:ext cx="5206089" cy="6659337"/>
            </a:xfrm>
            <a:custGeom>
              <a:rect b="b" l="l" r="r" t="t"/>
              <a:pathLst>
                <a:path extrusionOk="0" h="6659337" w="5206089">
                  <a:moveTo>
                    <a:pt x="0" y="0"/>
                  </a:moveTo>
                  <a:lnTo>
                    <a:pt x="5206089" y="0"/>
                  </a:lnTo>
                  <a:lnTo>
                    <a:pt x="5206089" y="6659337"/>
                  </a:lnTo>
                  <a:lnTo>
                    <a:pt x="0" y="6659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6540951" y="3699100"/>
              <a:ext cx="2406483" cy="1390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0" u="none" cap="none" strike="noStrike">
                  <a:solidFill>
                    <a:srgbClr val="BD9CE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7148484" y="5302196"/>
              <a:ext cx="1904067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본론</a:t>
              </a:r>
              <a:endParaRPr/>
            </a:p>
          </p:txBody>
        </p:sp>
        <p:cxnSp>
          <p:nvCxnSpPr>
            <p:cNvPr id="125" name="Google Shape;125;p2"/>
            <p:cNvCxnSpPr/>
            <p:nvPr/>
          </p:nvCxnSpPr>
          <p:spPr>
            <a:xfrm>
              <a:off x="7228875" y="5942363"/>
              <a:ext cx="548073" cy="0"/>
            </a:xfrm>
            <a:prstGeom prst="straightConnector1">
              <a:avLst/>
            </a:prstGeom>
            <a:noFill/>
            <a:ln cap="rnd" cmpd="sng" w="28575">
              <a:solidFill>
                <a:srgbClr val="BD9CE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2"/>
            <p:cNvSpPr txBox="1"/>
            <p:nvPr/>
          </p:nvSpPr>
          <p:spPr>
            <a:xfrm>
              <a:off x="6948840" y="5989320"/>
              <a:ext cx="4370070" cy="246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44316" lvl="1" marL="488632" marR="0" rtl="0" algn="l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초기 구현</a:t>
              </a:r>
              <a:endParaRPr/>
            </a:p>
            <a:p>
              <a:pPr indent="-244316" lvl="1" marL="488632" marR="0" rtl="0" algn="l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한계점과 개선사항</a:t>
              </a:r>
              <a:endParaRPr/>
            </a:p>
            <a:p>
              <a:pPr indent="-244316" lvl="1" marL="488632" marR="0" rtl="0" algn="l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준실시간 시스템  전환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2185952" y="3103788"/>
            <a:ext cx="5206089" cy="6659337"/>
            <a:chOff x="12185952" y="3103788"/>
            <a:chExt cx="5206089" cy="6659337"/>
          </a:xfrm>
        </p:grpSpPr>
        <p:sp>
          <p:nvSpPr>
            <p:cNvPr id="128" name="Google Shape;128;p2"/>
            <p:cNvSpPr/>
            <p:nvPr/>
          </p:nvSpPr>
          <p:spPr>
            <a:xfrm>
              <a:off x="12185952" y="3103788"/>
              <a:ext cx="5206089" cy="6659337"/>
            </a:xfrm>
            <a:custGeom>
              <a:rect b="b" l="l" r="r" t="t"/>
              <a:pathLst>
                <a:path extrusionOk="0" h="6659337" w="5206089">
                  <a:moveTo>
                    <a:pt x="0" y="0"/>
                  </a:moveTo>
                  <a:lnTo>
                    <a:pt x="5206088" y="0"/>
                  </a:lnTo>
                  <a:lnTo>
                    <a:pt x="5206088" y="6659337"/>
                  </a:lnTo>
                  <a:lnTo>
                    <a:pt x="0" y="66593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12185952" y="3699100"/>
              <a:ext cx="2511609" cy="1390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0" u="none" cap="none" strike="noStrike">
                  <a:solidFill>
                    <a:srgbClr val="FB93C7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12793494" y="5302196"/>
              <a:ext cx="1904067" cy="476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결론</a:t>
              </a:r>
              <a:endParaRPr/>
            </a:p>
          </p:txBody>
        </p:sp>
        <p:cxnSp>
          <p:nvCxnSpPr>
            <p:cNvPr id="131" name="Google Shape;131;p2"/>
            <p:cNvCxnSpPr/>
            <p:nvPr/>
          </p:nvCxnSpPr>
          <p:spPr>
            <a:xfrm>
              <a:off x="12873886" y="5942363"/>
              <a:ext cx="548073" cy="0"/>
            </a:xfrm>
            <a:prstGeom prst="straightConnector1">
              <a:avLst/>
            </a:prstGeom>
            <a:noFill/>
            <a:ln cap="rnd" cmpd="sng" w="28575">
              <a:solidFill>
                <a:srgbClr val="FB93C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2"/>
            <p:cNvSpPr txBox="1"/>
            <p:nvPr/>
          </p:nvSpPr>
          <p:spPr>
            <a:xfrm>
              <a:off x="12593850" y="5989320"/>
              <a:ext cx="4370070" cy="246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91465" lvl="1" marL="582930" marR="0" rtl="0" algn="l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시연 및 분석</a:t>
              </a:r>
              <a:endParaRPr/>
            </a:p>
            <a:p>
              <a:pPr indent="-291465" lvl="1" marL="582930" marR="0" rtl="0" algn="l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확장성 및 기대효과</a:t>
              </a:r>
              <a:endParaRPr/>
            </a:p>
            <a:p>
              <a:pPr indent="-291465" lvl="1" marL="582930" marR="0" rtl="0" algn="l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최종 결론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139" name="Google Shape;139;p3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3"/>
          <p:cNvSpPr/>
          <p:nvPr/>
        </p:nvSpPr>
        <p:spPr>
          <a:xfrm>
            <a:off x="0" y="0"/>
            <a:ext cx="18288000" cy="3962400"/>
          </a:xfrm>
          <a:custGeom>
            <a:rect b="b" l="l" r="r" t="t"/>
            <a:pathLst>
              <a:path extrusionOk="0" h="5283200" w="24384000">
                <a:moveTo>
                  <a:pt x="0" y="0"/>
                </a:moveTo>
                <a:lnTo>
                  <a:pt x="24384000" y="0"/>
                </a:lnTo>
                <a:lnTo>
                  <a:pt x="24384000" y="5283200"/>
                </a:lnTo>
                <a:lnTo>
                  <a:pt x="0" y="528320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>
            <a:off x="0" y="0"/>
            <a:ext cx="4631627" cy="3584829"/>
          </a:xfrm>
          <a:custGeom>
            <a:rect b="b" l="l" r="r" t="t"/>
            <a:pathLst>
              <a:path extrusionOk="0" h="4779772" w="6175502">
                <a:moveTo>
                  <a:pt x="0" y="0"/>
                </a:moveTo>
                <a:lnTo>
                  <a:pt x="6175502" y="0"/>
                </a:lnTo>
                <a:lnTo>
                  <a:pt x="6175502" y="4779772"/>
                </a:lnTo>
                <a:lnTo>
                  <a:pt x="0" y="4779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579" r="0" t="-38771"/>
            </a:stretch>
          </a:blipFill>
          <a:ln>
            <a:noFill/>
          </a:ln>
        </p:spPr>
      </p:sp>
      <p:grpSp>
        <p:nvGrpSpPr>
          <p:cNvPr id="142" name="Google Shape;142;p3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143" name="Google Shape;143;p3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144" name="Google Shape;144;p3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문제 제기 및 필요성</a:t>
              </a:r>
              <a:endParaRPr/>
            </a:p>
          </p:txBody>
        </p:sp>
      </p:grpSp>
      <p:grpSp>
        <p:nvGrpSpPr>
          <p:cNvPr id="145" name="Google Shape;145;p3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146" name="Google Shape;146;p3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147" name="Google Shape;147;p3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왜 실시간 대피소 추천 시스템이 필요한가?</a:t>
              </a:r>
              <a:endParaRPr/>
            </a:p>
          </p:txBody>
        </p:sp>
      </p:grpSp>
      <p:cxnSp>
        <p:nvCxnSpPr>
          <p:cNvPr id="148" name="Google Shape;148;p3"/>
          <p:cNvCxnSpPr/>
          <p:nvPr/>
        </p:nvCxnSpPr>
        <p:spPr>
          <a:xfrm>
            <a:off x="1181103" y="2652150"/>
            <a:ext cx="2157196" cy="0"/>
          </a:xfrm>
          <a:prstGeom prst="straightConnector1">
            <a:avLst/>
          </a:prstGeom>
          <a:noFill/>
          <a:ln cap="rnd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3"/>
          <p:cNvSpPr/>
          <p:nvPr/>
        </p:nvSpPr>
        <p:spPr>
          <a:xfrm>
            <a:off x="9886950" y="0"/>
            <a:ext cx="8414956" cy="8902446"/>
          </a:xfrm>
          <a:custGeom>
            <a:rect b="b" l="l" r="r" t="t"/>
            <a:pathLst>
              <a:path extrusionOk="0" h="11869928" w="11219942">
                <a:moveTo>
                  <a:pt x="0" y="0"/>
                </a:moveTo>
                <a:lnTo>
                  <a:pt x="11219942" y="0"/>
                </a:lnTo>
                <a:lnTo>
                  <a:pt x="11219942" y="11869928"/>
                </a:lnTo>
                <a:lnTo>
                  <a:pt x="0" y="11869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4780" t="-14038"/>
            </a:stretch>
          </a:blipFill>
          <a:ln>
            <a:noFill/>
          </a:ln>
        </p:spPr>
      </p:sp>
      <p:pic>
        <p:nvPicPr>
          <p:cNvPr id="150" name="Google Shape;150;p3"/>
          <p:cNvPicPr preferRelativeResize="0"/>
          <p:nvPr/>
        </p:nvPicPr>
        <p:blipFill rotWithShape="1">
          <a:blip r:embed="rId6">
            <a:alphaModFix/>
          </a:blip>
          <a:srcRect b="18764" l="1610" r="1825" t="60494"/>
          <a:stretch/>
        </p:blipFill>
        <p:spPr>
          <a:xfrm>
            <a:off x="669830" y="3962400"/>
            <a:ext cx="7741457" cy="361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"/>
          <p:cNvPicPr preferRelativeResize="0"/>
          <p:nvPr/>
        </p:nvPicPr>
        <p:blipFill rotWithShape="1">
          <a:blip r:embed="rId7">
            <a:alphaModFix/>
          </a:blip>
          <a:srcRect b="13972" l="3214" r="3531" t="16261"/>
          <a:stretch/>
        </p:blipFill>
        <p:spPr>
          <a:xfrm>
            <a:off x="8420817" y="3962400"/>
            <a:ext cx="9236589" cy="36126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3"/>
          <p:cNvCxnSpPr/>
          <p:nvPr/>
        </p:nvCxnSpPr>
        <p:spPr>
          <a:xfrm>
            <a:off x="12952056" y="6534150"/>
            <a:ext cx="39624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3"/>
          <p:cNvCxnSpPr/>
          <p:nvPr/>
        </p:nvCxnSpPr>
        <p:spPr>
          <a:xfrm>
            <a:off x="9982200" y="7054755"/>
            <a:ext cx="312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3"/>
          <p:cNvCxnSpPr/>
          <p:nvPr/>
        </p:nvCxnSpPr>
        <p:spPr>
          <a:xfrm>
            <a:off x="1981200" y="7048500"/>
            <a:ext cx="5829869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3"/>
          <p:cNvCxnSpPr/>
          <p:nvPr/>
        </p:nvCxnSpPr>
        <p:spPr>
          <a:xfrm>
            <a:off x="1981200" y="7353300"/>
            <a:ext cx="312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3"/>
          <p:cNvCxnSpPr/>
          <p:nvPr/>
        </p:nvCxnSpPr>
        <p:spPr>
          <a:xfrm>
            <a:off x="3886200" y="5163403"/>
            <a:ext cx="3924869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3"/>
          <p:cNvCxnSpPr/>
          <p:nvPr/>
        </p:nvCxnSpPr>
        <p:spPr>
          <a:xfrm>
            <a:off x="1981200" y="5524500"/>
            <a:ext cx="312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BF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163" name="Google Shape;163;p4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0" y="0"/>
            <a:ext cx="18288000" cy="3962400"/>
          </a:xfrm>
          <a:custGeom>
            <a:rect b="b" l="l" r="r" t="t"/>
            <a:pathLst>
              <a:path extrusionOk="0" h="5283200" w="24384000">
                <a:moveTo>
                  <a:pt x="0" y="0"/>
                </a:moveTo>
                <a:lnTo>
                  <a:pt x="24384000" y="0"/>
                </a:lnTo>
                <a:lnTo>
                  <a:pt x="24384000" y="5283200"/>
                </a:lnTo>
                <a:lnTo>
                  <a:pt x="0" y="528320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</p:sp>
      <p:sp>
        <p:nvSpPr>
          <p:cNvPr id="165" name="Google Shape;165;p4"/>
          <p:cNvSpPr/>
          <p:nvPr/>
        </p:nvSpPr>
        <p:spPr>
          <a:xfrm>
            <a:off x="0" y="0"/>
            <a:ext cx="4631627" cy="3584829"/>
          </a:xfrm>
          <a:custGeom>
            <a:rect b="b" l="l" r="r" t="t"/>
            <a:pathLst>
              <a:path extrusionOk="0" h="4779772" w="6175502">
                <a:moveTo>
                  <a:pt x="0" y="0"/>
                </a:moveTo>
                <a:lnTo>
                  <a:pt x="6175502" y="0"/>
                </a:lnTo>
                <a:lnTo>
                  <a:pt x="6175502" y="4779772"/>
                </a:lnTo>
                <a:lnTo>
                  <a:pt x="0" y="47797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579" r="0" t="-38771"/>
            </a:stretch>
          </a:blipFill>
          <a:ln>
            <a:noFill/>
          </a:ln>
        </p:spPr>
      </p:sp>
      <p:grpSp>
        <p:nvGrpSpPr>
          <p:cNvPr id="166" name="Google Shape;166;p4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문제 제기 및 필요성</a:t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왜 실시간 대피소 추천 시스템이 필요한가?</a:t>
              </a:r>
              <a:endParaRPr/>
            </a:p>
          </p:txBody>
        </p:sp>
      </p:grpSp>
      <p:cxnSp>
        <p:nvCxnSpPr>
          <p:cNvPr id="172" name="Google Shape;172;p4"/>
          <p:cNvCxnSpPr/>
          <p:nvPr/>
        </p:nvCxnSpPr>
        <p:spPr>
          <a:xfrm>
            <a:off x="1181103" y="2652150"/>
            <a:ext cx="2157196" cy="0"/>
          </a:xfrm>
          <a:prstGeom prst="straightConnector1">
            <a:avLst/>
          </a:prstGeom>
          <a:noFill/>
          <a:ln cap="rnd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4"/>
          <p:cNvSpPr/>
          <p:nvPr/>
        </p:nvSpPr>
        <p:spPr>
          <a:xfrm>
            <a:off x="9886950" y="0"/>
            <a:ext cx="8414956" cy="8902446"/>
          </a:xfrm>
          <a:custGeom>
            <a:rect b="b" l="l" r="r" t="t"/>
            <a:pathLst>
              <a:path extrusionOk="0" h="11869928" w="11219942">
                <a:moveTo>
                  <a:pt x="0" y="0"/>
                </a:moveTo>
                <a:lnTo>
                  <a:pt x="11219942" y="0"/>
                </a:lnTo>
                <a:lnTo>
                  <a:pt x="11219942" y="11869928"/>
                </a:lnTo>
                <a:lnTo>
                  <a:pt x="0" y="11869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4780" t="-14038"/>
            </a:stretch>
          </a:blipFill>
          <a:ln>
            <a:noFill/>
          </a:ln>
        </p:spPr>
      </p:sp>
      <p:grpSp>
        <p:nvGrpSpPr>
          <p:cNvPr id="174" name="Google Shape;174;p4"/>
          <p:cNvGrpSpPr/>
          <p:nvPr/>
        </p:nvGrpSpPr>
        <p:grpSpPr>
          <a:xfrm rot="-5400000">
            <a:off x="3542780" y="1041172"/>
            <a:ext cx="2719102" cy="7309104"/>
            <a:chOff x="0" y="0"/>
            <a:chExt cx="3625469" cy="9745472"/>
          </a:xfrm>
        </p:grpSpPr>
        <p:sp>
          <p:nvSpPr>
            <p:cNvPr id="175" name="Google Shape;175;p4"/>
            <p:cNvSpPr/>
            <p:nvPr/>
          </p:nvSpPr>
          <p:spPr>
            <a:xfrm>
              <a:off x="12700" y="12700"/>
              <a:ext cx="3600069" cy="9720072"/>
            </a:xfrm>
            <a:custGeom>
              <a:rect b="b" l="l" r="r" t="t"/>
              <a:pathLst>
                <a:path extrusionOk="0" h="9720072" w="3600069">
                  <a:moveTo>
                    <a:pt x="0" y="119888"/>
                  </a:moveTo>
                  <a:cubicBezTo>
                    <a:pt x="0" y="53721"/>
                    <a:pt x="53467" y="0"/>
                    <a:pt x="119380" y="0"/>
                  </a:cubicBezTo>
                  <a:lnTo>
                    <a:pt x="3480689" y="0"/>
                  </a:lnTo>
                  <a:cubicBezTo>
                    <a:pt x="3546602" y="0"/>
                    <a:pt x="3600069" y="53721"/>
                    <a:pt x="3600069" y="119888"/>
                  </a:cubicBezTo>
                  <a:lnTo>
                    <a:pt x="3600069" y="9600184"/>
                  </a:lnTo>
                  <a:cubicBezTo>
                    <a:pt x="3600069" y="9666351"/>
                    <a:pt x="3546602" y="9720072"/>
                    <a:pt x="3480689" y="9720072"/>
                  </a:cubicBezTo>
                  <a:lnTo>
                    <a:pt x="119380" y="9720072"/>
                  </a:lnTo>
                  <a:cubicBezTo>
                    <a:pt x="53467" y="9720072"/>
                    <a:pt x="0" y="9666351"/>
                    <a:pt x="0" y="9600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0" y="0"/>
              <a:ext cx="3625469" cy="9745472"/>
            </a:xfrm>
            <a:custGeom>
              <a:rect b="b" l="l" r="r" t="t"/>
              <a:pathLst>
                <a:path extrusionOk="0" h="9745472" w="3625469">
                  <a:moveTo>
                    <a:pt x="0" y="132588"/>
                  </a:moveTo>
                  <a:cubicBezTo>
                    <a:pt x="0" y="59436"/>
                    <a:pt x="59055" y="0"/>
                    <a:pt x="132080" y="0"/>
                  </a:cubicBezTo>
                  <a:lnTo>
                    <a:pt x="3493389" y="0"/>
                  </a:lnTo>
                  <a:lnTo>
                    <a:pt x="3493389" y="12700"/>
                  </a:lnTo>
                  <a:lnTo>
                    <a:pt x="3493389" y="0"/>
                  </a:lnTo>
                  <a:cubicBezTo>
                    <a:pt x="3566414" y="0"/>
                    <a:pt x="3625469" y="59436"/>
                    <a:pt x="3625469" y="132588"/>
                  </a:cubicBezTo>
                  <a:lnTo>
                    <a:pt x="3612769" y="132588"/>
                  </a:lnTo>
                  <a:lnTo>
                    <a:pt x="3625469" y="132588"/>
                  </a:lnTo>
                  <a:lnTo>
                    <a:pt x="3625469" y="9612884"/>
                  </a:lnTo>
                  <a:lnTo>
                    <a:pt x="3612769" y="9612884"/>
                  </a:lnTo>
                  <a:lnTo>
                    <a:pt x="3625469" y="9612884"/>
                  </a:lnTo>
                  <a:cubicBezTo>
                    <a:pt x="3625469" y="9686036"/>
                    <a:pt x="3566414" y="9745472"/>
                    <a:pt x="3493389" y="9745472"/>
                  </a:cubicBezTo>
                  <a:lnTo>
                    <a:pt x="3493389" y="9732772"/>
                  </a:lnTo>
                  <a:lnTo>
                    <a:pt x="3493389" y="9745472"/>
                  </a:lnTo>
                  <a:lnTo>
                    <a:pt x="132080" y="9745472"/>
                  </a:lnTo>
                  <a:lnTo>
                    <a:pt x="132080" y="9732772"/>
                  </a:lnTo>
                  <a:lnTo>
                    <a:pt x="132080" y="9745472"/>
                  </a:lnTo>
                  <a:cubicBezTo>
                    <a:pt x="59055" y="9745472"/>
                    <a:pt x="0" y="9686036"/>
                    <a:pt x="0" y="9612884"/>
                  </a:cubicBezTo>
                  <a:lnTo>
                    <a:pt x="0" y="132588"/>
                  </a:lnTo>
                  <a:lnTo>
                    <a:pt x="12700" y="132588"/>
                  </a:lnTo>
                  <a:lnTo>
                    <a:pt x="0" y="132588"/>
                  </a:lnTo>
                  <a:moveTo>
                    <a:pt x="25400" y="132588"/>
                  </a:moveTo>
                  <a:lnTo>
                    <a:pt x="25400" y="9612884"/>
                  </a:lnTo>
                  <a:lnTo>
                    <a:pt x="12700" y="9612884"/>
                  </a:lnTo>
                  <a:lnTo>
                    <a:pt x="25400" y="9612884"/>
                  </a:lnTo>
                  <a:cubicBezTo>
                    <a:pt x="25400" y="9672065"/>
                    <a:pt x="73152" y="9720072"/>
                    <a:pt x="132080" y="9720072"/>
                  </a:cubicBezTo>
                  <a:lnTo>
                    <a:pt x="3493389" y="9720072"/>
                  </a:lnTo>
                  <a:cubicBezTo>
                    <a:pt x="3552190" y="9720072"/>
                    <a:pt x="3600069" y="9672193"/>
                    <a:pt x="3600069" y="9612884"/>
                  </a:cubicBezTo>
                  <a:lnTo>
                    <a:pt x="3600069" y="132588"/>
                  </a:lnTo>
                  <a:cubicBezTo>
                    <a:pt x="3600069" y="73406"/>
                    <a:pt x="3552317" y="25400"/>
                    <a:pt x="3493389" y="25400"/>
                  </a:cubicBezTo>
                  <a:lnTo>
                    <a:pt x="132080" y="25400"/>
                  </a:lnTo>
                  <a:lnTo>
                    <a:pt x="132080" y="12700"/>
                  </a:lnTo>
                  <a:lnTo>
                    <a:pt x="132080" y="25400"/>
                  </a:lnTo>
                  <a:cubicBezTo>
                    <a:pt x="73152" y="25400"/>
                    <a:pt x="25400" y="73279"/>
                    <a:pt x="25400" y="1325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4"/>
          <p:cNvSpPr/>
          <p:nvPr/>
        </p:nvSpPr>
        <p:spPr>
          <a:xfrm rot="-5400000">
            <a:off x="-4620" y="4612376"/>
            <a:ext cx="2699957" cy="166783"/>
          </a:xfrm>
          <a:custGeom>
            <a:rect b="b" l="l" r="r" t="t"/>
            <a:pathLst>
              <a:path extrusionOk="0" h="222377" w="3599942">
                <a:moveTo>
                  <a:pt x="46736" y="0"/>
                </a:moveTo>
                <a:lnTo>
                  <a:pt x="3553206" y="0"/>
                </a:lnTo>
                <a:cubicBezTo>
                  <a:pt x="3578987" y="0"/>
                  <a:pt x="3599942" y="20955"/>
                  <a:pt x="3599942" y="46736"/>
                </a:cubicBezTo>
                <a:lnTo>
                  <a:pt x="3599942" y="222377"/>
                </a:lnTo>
                <a:lnTo>
                  <a:pt x="0" y="222377"/>
                </a:lnTo>
                <a:lnTo>
                  <a:pt x="0" y="46736"/>
                </a:lnTo>
                <a:cubicBezTo>
                  <a:pt x="0" y="20955"/>
                  <a:pt x="20955" y="0"/>
                  <a:pt x="46736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p4"/>
          <p:cNvGrpSpPr/>
          <p:nvPr/>
        </p:nvGrpSpPr>
        <p:grpSpPr>
          <a:xfrm rot="-5400000">
            <a:off x="3542780" y="4377627"/>
            <a:ext cx="2719102" cy="7309104"/>
            <a:chOff x="0" y="0"/>
            <a:chExt cx="3625469" cy="9745472"/>
          </a:xfrm>
        </p:grpSpPr>
        <p:sp>
          <p:nvSpPr>
            <p:cNvPr id="179" name="Google Shape;179;p4"/>
            <p:cNvSpPr/>
            <p:nvPr/>
          </p:nvSpPr>
          <p:spPr>
            <a:xfrm>
              <a:off x="12700" y="12700"/>
              <a:ext cx="3600069" cy="9720072"/>
            </a:xfrm>
            <a:custGeom>
              <a:rect b="b" l="l" r="r" t="t"/>
              <a:pathLst>
                <a:path extrusionOk="0" h="9720072" w="3600069">
                  <a:moveTo>
                    <a:pt x="0" y="119888"/>
                  </a:moveTo>
                  <a:cubicBezTo>
                    <a:pt x="0" y="53721"/>
                    <a:pt x="53467" y="0"/>
                    <a:pt x="119380" y="0"/>
                  </a:cubicBezTo>
                  <a:lnTo>
                    <a:pt x="3480689" y="0"/>
                  </a:lnTo>
                  <a:cubicBezTo>
                    <a:pt x="3546602" y="0"/>
                    <a:pt x="3600069" y="53721"/>
                    <a:pt x="3600069" y="119888"/>
                  </a:cubicBezTo>
                  <a:lnTo>
                    <a:pt x="3600069" y="9600184"/>
                  </a:lnTo>
                  <a:cubicBezTo>
                    <a:pt x="3600069" y="9666351"/>
                    <a:pt x="3546602" y="9720072"/>
                    <a:pt x="3480689" y="9720072"/>
                  </a:cubicBezTo>
                  <a:lnTo>
                    <a:pt x="119380" y="9720072"/>
                  </a:lnTo>
                  <a:cubicBezTo>
                    <a:pt x="53467" y="9720072"/>
                    <a:pt x="0" y="9666351"/>
                    <a:pt x="0" y="9600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0" y="0"/>
              <a:ext cx="3625469" cy="9745472"/>
            </a:xfrm>
            <a:custGeom>
              <a:rect b="b" l="l" r="r" t="t"/>
              <a:pathLst>
                <a:path extrusionOk="0" h="9745472" w="3625469">
                  <a:moveTo>
                    <a:pt x="0" y="132588"/>
                  </a:moveTo>
                  <a:cubicBezTo>
                    <a:pt x="0" y="59436"/>
                    <a:pt x="59055" y="0"/>
                    <a:pt x="132080" y="0"/>
                  </a:cubicBezTo>
                  <a:lnTo>
                    <a:pt x="3493389" y="0"/>
                  </a:lnTo>
                  <a:lnTo>
                    <a:pt x="3493389" y="12700"/>
                  </a:lnTo>
                  <a:lnTo>
                    <a:pt x="3493389" y="0"/>
                  </a:lnTo>
                  <a:cubicBezTo>
                    <a:pt x="3566414" y="0"/>
                    <a:pt x="3625469" y="59436"/>
                    <a:pt x="3625469" y="132588"/>
                  </a:cubicBezTo>
                  <a:lnTo>
                    <a:pt x="3612769" y="132588"/>
                  </a:lnTo>
                  <a:lnTo>
                    <a:pt x="3625469" y="132588"/>
                  </a:lnTo>
                  <a:lnTo>
                    <a:pt x="3625469" y="9612884"/>
                  </a:lnTo>
                  <a:lnTo>
                    <a:pt x="3612769" y="9612884"/>
                  </a:lnTo>
                  <a:lnTo>
                    <a:pt x="3625469" y="9612884"/>
                  </a:lnTo>
                  <a:cubicBezTo>
                    <a:pt x="3625469" y="9686036"/>
                    <a:pt x="3566414" y="9745472"/>
                    <a:pt x="3493389" y="9745472"/>
                  </a:cubicBezTo>
                  <a:lnTo>
                    <a:pt x="3493389" y="9732772"/>
                  </a:lnTo>
                  <a:lnTo>
                    <a:pt x="3493389" y="9745472"/>
                  </a:lnTo>
                  <a:lnTo>
                    <a:pt x="132080" y="9745472"/>
                  </a:lnTo>
                  <a:lnTo>
                    <a:pt x="132080" y="9732772"/>
                  </a:lnTo>
                  <a:lnTo>
                    <a:pt x="132080" y="9745472"/>
                  </a:lnTo>
                  <a:cubicBezTo>
                    <a:pt x="59055" y="9745472"/>
                    <a:pt x="0" y="9686036"/>
                    <a:pt x="0" y="9612884"/>
                  </a:cubicBezTo>
                  <a:lnTo>
                    <a:pt x="0" y="132588"/>
                  </a:lnTo>
                  <a:lnTo>
                    <a:pt x="12700" y="132588"/>
                  </a:lnTo>
                  <a:lnTo>
                    <a:pt x="0" y="132588"/>
                  </a:lnTo>
                  <a:moveTo>
                    <a:pt x="25400" y="132588"/>
                  </a:moveTo>
                  <a:lnTo>
                    <a:pt x="25400" y="9612884"/>
                  </a:lnTo>
                  <a:lnTo>
                    <a:pt x="12700" y="9612884"/>
                  </a:lnTo>
                  <a:lnTo>
                    <a:pt x="25400" y="9612884"/>
                  </a:lnTo>
                  <a:cubicBezTo>
                    <a:pt x="25400" y="9672065"/>
                    <a:pt x="73152" y="9720072"/>
                    <a:pt x="132080" y="9720072"/>
                  </a:cubicBezTo>
                  <a:lnTo>
                    <a:pt x="3493389" y="9720072"/>
                  </a:lnTo>
                  <a:cubicBezTo>
                    <a:pt x="3552190" y="9720072"/>
                    <a:pt x="3600069" y="9672193"/>
                    <a:pt x="3600069" y="9612884"/>
                  </a:cubicBezTo>
                  <a:lnTo>
                    <a:pt x="3600069" y="132588"/>
                  </a:lnTo>
                  <a:cubicBezTo>
                    <a:pt x="3600069" y="73406"/>
                    <a:pt x="3552317" y="25400"/>
                    <a:pt x="3493389" y="25400"/>
                  </a:cubicBezTo>
                  <a:lnTo>
                    <a:pt x="132080" y="25400"/>
                  </a:lnTo>
                  <a:lnTo>
                    <a:pt x="132080" y="12700"/>
                  </a:lnTo>
                  <a:lnTo>
                    <a:pt x="132080" y="25400"/>
                  </a:lnTo>
                  <a:cubicBezTo>
                    <a:pt x="73152" y="25400"/>
                    <a:pt x="25400" y="73279"/>
                    <a:pt x="25400" y="1325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4"/>
          <p:cNvSpPr/>
          <p:nvPr/>
        </p:nvSpPr>
        <p:spPr>
          <a:xfrm rot="-5400000">
            <a:off x="-4620" y="7948832"/>
            <a:ext cx="2699957" cy="166783"/>
          </a:xfrm>
          <a:custGeom>
            <a:rect b="b" l="l" r="r" t="t"/>
            <a:pathLst>
              <a:path extrusionOk="0" h="222377" w="3599942">
                <a:moveTo>
                  <a:pt x="46736" y="0"/>
                </a:moveTo>
                <a:lnTo>
                  <a:pt x="3553206" y="0"/>
                </a:lnTo>
                <a:cubicBezTo>
                  <a:pt x="3578987" y="0"/>
                  <a:pt x="3599942" y="20955"/>
                  <a:pt x="3599942" y="46736"/>
                </a:cubicBezTo>
                <a:lnTo>
                  <a:pt x="3599942" y="222377"/>
                </a:lnTo>
                <a:lnTo>
                  <a:pt x="0" y="222377"/>
                </a:lnTo>
                <a:lnTo>
                  <a:pt x="0" y="46736"/>
                </a:lnTo>
                <a:cubicBezTo>
                  <a:pt x="0" y="20955"/>
                  <a:pt x="20955" y="0"/>
                  <a:pt x="4673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4"/>
          <p:cNvGrpSpPr/>
          <p:nvPr/>
        </p:nvGrpSpPr>
        <p:grpSpPr>
          <a:xfrm rot="-5400000">
            <a:off x="12051239" y="1041172"/>
            <a:ext cx="2719102" cy="7309104"/>
            <a:chOff x="0" y="0"/>
            <a:chExt cx="3625469" cy="9745472"/>
          </a:xfrm>
        </p:grpSpPr>
        <p:sp>
          <p:nvSpPr>
            <p:cNvPr id="183" name="Google Shape;183;p4"/>
            <p:cNvSpPr/>
            <p:nvPr/>
          </p:nvSpPr>
          <p:spPr>
            <a:xfrm>
              <a:off x="12700" y="12700"/>
              <a:ext cx="3600069" cy="9720072"/>
            </a:xfrm>
            <a:custGeom>
              <a:rect b="b" l="l" r="r" t="t"/>
              <a:pathLst>
                <a:path extrusionOk="0" h="9720072" w="3600069">
                  <a:moveTo>
                    <a:pt x="0" y="119888"/>
                  </a:moveTo>
                  <a:cubicBezTo>
                    <a:pt x="0" y="53721"/>
                    <a:pt x="53467" y="0"/>
                    <a:pt x="119380" y="0"/>
                  </a:cubicBezTo>
                  <a:lnTo>
                    <a:pt x="3480689" y="0"/>
                  </a:lnTo>
                  <a:cubicBezTo>
                    <a:pt x="3546602" y="0"/>
                    <a:pt x="3600069" y="53721"/>
                    <a:pt x="3600069" y="119888"/>
                  </a:cubicBezTo>
                  <a:lnTo>
                    <a:pt x="3600069" y="9600184"/>
                  </a:lnTo>
                  <a:cubicBezTo>
                    <a:pt x="3600069" y="9666351"/>
                    <a:pt x="3546602" y="9720072"/>
                    <a:pt x="3480689" y="9720072"/>
                  </a:cubicBezTo>
                  <a:lnTo>
                    <a:pt x="119380" y="9720072"/>
                  </a:lnTo>
                  <a:cubicBezTo>
                    <a:pt x="53467" y="9720072"/>
                    <a:pt x="0" y="9666351"/>
                    <a:pt x="0" y="9600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0" y="0"/>
              <a:ext cx="3625469" cy="9745472"/>
            </a:xfrm>
            <a:custGeom>
              <a:rect b="b" l="l" r="r" t="t"/>
              <a:pathLst>
                <a:path extrusionOk="0" h="9745472" w="3625469">
                  <a:moveTo>
                    <a:pt x="0" y="132588"/>
                  </a:moveTo>
                  <a:cubicBezTo>
                    <a:pt x="0" y="59436"/>
                    <a:pt x="59055" y="0"/>
                    <a:pt x="132080" y="0"/>
                  </a:cubicBezTo>
                  <a:lnTo>
                    <a:pt x="3493389" y="0"/>
                  </a:lnTo>
                  <a:lnTo>
                    <a:pt x="3493389" y="12700"/>
                  </a:lnTo>
                  <a:lnTo>
                    <a:pt x="3493389" y="0"/>
                  </a:lnTo>
                  <a:cubicBezTo>
                    <a:pt x="3566414" y="0"/>
                    <a:pt x="3625469" y="59436"/>
                    <a:pt x="3625469" y="132588"/>
                  </a:cubicBezTo>
                  <a:lnTo>
                    <a:pt x="3612769" y="132588"/>
                  </a:lnTo>
                  <a:lnTo>
                    <a:pt x="3625469" y="132588"/>
                  </a:lnTo>
                  <a:lnTo>
                    <a:pt x="3625469" y="9612884"/>
                  </a:lnTo>
                  <a:lnTo>
                    <a:pt x="3612769" y="9612884"/>
                  </a:lnTo>
                  <a:lnTo>
                    <a:pt x="3625469" y="9612884"/>
                  </a:lnTo>
                  <a:cubicBezTo>
                    <a:pt x="3625469" y="9686036"/>
                    <a:pt x="3566414" y="9745472"/>
                    <a:pt x="3493389" y="9745472"/>
                  </a:cubicBezTo>
                  <a:lnTo>
                    <a:pt x="3493389" y="9732772"/>
                  </a:lnTo>
                  <a:lnTo>
                    <a:pt x="3493389" y="9745472"/>
                  </a:lnTo>
                  <a:lnTo>
                    <a:pt x="132080" y="9745472"/>
                  </a:lnTo>
                  <a:lnTo>
                    <a:pt x="132080" y="9732772"/>
                  </a:lnTo>
                  <a:lnTo>
                    <a:pt x="132080" y="9745472"/>
                  </a:lnTo>
                  <a:cubicBezTo>
                    <a:pt x="59055" y="9745472"/>
                    <a:pt x="0" y="9686036"/>
                    <a:pt x="0" y="9612884"/>
                  </a:cubicBezTo>
                  <a:lnTo>
                    <a:pt x="0" y="132588"/>
                  </a:lnTo>
                  <a:lnTo>
                    <a:pt x="12700" y="132588"/>
                  </a:lnTo>
                  <a:lnTo>
                    <a:pt x="0" y="132588"/>
                  </a:lnTo>
                  <a:moveTo>
                    <a:pt x="25400" y="132588"/>
                  </a:moveTo>
                  <a:lnTo>
                    <a:pt x="25400" y="9612884"/>
                  </a:lnTo>
                  <a:lnTo>
                    <a:pt x="12700" y="9612884"/>
                  </a:lnTo>
                  <a:lnTo>
                    <a:pt x="25400" y="9612884"/>
                  </a:lnTo>
                  <a:cubicBezTo>
                    <a:pt x="25400" y="9672065"/>
                    <a:pt x="73152" y="9720072"/>
                    <a:pt x="132080" y="9720072"/>
                  </a:cubicBezTo>
                  <a:lnTo>
                    <a:pt x="3493389" y="9720072"/>
                  </a:lnTo>
                  <a:cubicBezTo>
                    <a:pt x="3552190" y="9720072"/>
                    <a:pt x="3600069" y="9672193"/>
                    <a:pt x="3600069" y="9612884"/>
                  </a:cubicBezTo>
                  <a:lnTo>
                    <a:pt x="3600069" y="132588"/>
                  </a:lnTo>
                  <a:cubicBezTo>
                    <a:pt x="3600069" y="73406"/>
                    <a:pt x="3552317" y="25400"/>
                    <a:pt x="3493389" y="25400"/>
                  </a:cubicBezTo>
                  <a:lnTo>
                    <a:pt x="132080" y="25400"/>
                  </a:lnTo>
                  <a:lnTo>
                    <a:pt x="132080" y="12700"/>
                  </a:lnTo>
                  <a:lnTo>
                    <a:pt x="132080" y="25400"/>
                  </a:lnTo>
                  <a:cubicBezTo>
                    <a:pt x="73152" y="25400"/>
                    <a:pt x="25400" y="73279"/>
                    <a:pt x="25400" y="1325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4"/>
          <p:cNvSpPr/>
          <p:nvPr/>
        </p:nvSpPr>
        <p:spPr>
          <a:xfrm rot="-5400000">
            <a:off x="8489651" y="4612376"/>
            <a:ext cx="2699957" cy="166783"/>
          </a:xfrm>
          <a:custGeom>
            <a:rect b="b" l="l" r="r" t="t"/>
            <a:pathLst>
              <a:path extrusionOk="0" h="222377" w="3599942">
                <a:moveTo>
                  <a:pt x="46736" y="0"/>
                </a:moveTo>
                <a:lnTo>
                  <a:pt x="3553206" y="0"/>
                </a:lnTo>
                <a:cubicBezTo>
                  <a:pt x="3578987" y="0"/>
                  <a:pt x="3599942" y="20955"/>
                  <a:pt x="3599942" y="46736"/>
                </a:cubicBezTo>
                <a:lnTo>
                  <a:pt x="3599942" y="222377"/>
                </a:lnTo>
                <a:lnTo>
                  <a:pt x="0" y="222377"/>
                </a:lnTo>
                <a:lnTo>
                  <a:pt x="0" y="46736"/>
                </a:lnTo>
                <a:cubicBezTo>
                  <a:pt x="0" y="20955"/>
                  <a:pt x="20955" y="0"/>
                  <a:pt x="46736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4"/>
          <p:cNvGrpSpPr/>
          <p:nvPr/>
        </p:nvGrpSpPr>
        <p:grpSpPr>
          <a:xfrm rot="-5400000">
            <a:off x="12037051" y="4369988"/>
            <a:ext cx="2719102" cy="7309104"/>
            <a:chOff x="0" y="0"/>
            <a:chExt cx="3625469" cy="9745472"/>
          </a:xfrm>
        </p:grpSpPr>
        <p:sp>
          <p:nvSpPr>
            <p:cNvPr id="187" name="Google Shape;187;p4"/>
            <p:cNvSpPr/>
            <p:nvPr/>
          </p:nvSpPr>
          <p:spPr>
            <a:xfrm>
              <a:off x="12700" y="12700"/>
              <a:ext cx="3600069" cy="9720072"/>
            </a:xfrm>
            <a:custGeom>
              <a:rect b="b" l="l" r="r" t="t"/>
              <a:pathLst>
                <a:path extrusionOk="0" h="9720072" w="3600069">
                  <a:moveTo>
                    <a:pt x="0" y="119888"/>
                  </a:moveTo>
                  <a:cubicBezTo>
                    <a:pt x="0" y="53721"/>
                    <a:pt x="53467" y="0"/>
                    <a:pt x="119380" y="0"/>
                  </a:cubicBezTo>
                  <a:lnTo>
                    <a:pt x="3480689" y="0"/>
                  </a:lnTo>
                  <a:cubicBezTo>
                    <a:pt x="3546602" y="0"/>
                    <a:pt x="3600069" y="53721"/>
                    <a:pt x="3600069" y="119888"/>
                  </a:cubicBezTo>
                  <a:lnTo>
                    <a:pt x="3600069" y="9600184"/>
                  </a:lnTo>
                  <a:cubicBezTo>
                    <a:pt x="3600069" y="9666351"/>
                    <a:pt x="3546602" y="9720072"/>
                    <a:pt x="3480689" y="9720072"/>
                  </a:cubicBezTo>
                  <a:lnTo>
                    <a:pt x="119380" y="9720072"/>
                  </a:lnTo>
                  <a:cubicBezTo>
                    <a:pt x="53467" y="9720072"/>
                    <a:pt x="0" y="9666351"/>
                    <a:pt x="0" y="9600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0" y="0"/>
              <a:ext cx="3625469" cy="9745472"/>
            </a:xfrm>
            <a:custGeom>
              <a:rect b="b" l="l" r="r" t="t"/>
              <a:pathLst>
                <a:path extrusionOk="0" h="9745472" w="3625469">
                  <a:moveTo>
                    <a:pt x="0" y="132588"/>
                  </a:moveTo>
                  <a:cubicBezTo>
                    <a:pt x="0" y="59436"/>
                    <a:pt x="59055" y="0"/>
                    <a:pt x="132080" y="0"/>
                  </a:cubicBezTo>
                  <a:lnTo>
                    <a:pt x="3493389" y="0"/>
                  </a:lnTo>
                  <a:lnTo>
                    <a:pt x="3493389" y="12700"/>
                  </a:lnTo>
                  <a:lnTo>
                    <a:pt x="3493389" y="0"/>
                  </a:lnTo>
                  <a:cubicBezTo>
                    <a:pt x="3566414" y="0"/>
                    <a:pt x="3625469" y="59436"/>
                    <a:pt x="3625469" y="132588"/>
                  </a:cubicBezTo>
                  <a:lnTo>
                    <a:pt x="3612769" y="132588"/>
                  </a:lnTo>
                  <a:lnTo>
                    <a:pt x="3625469" y="132588"/>
                  </a:lnTo>
                  <a:lnTo>
                    <a:pt x="3625469" y="9612884"/>
                  </a:lnTo>
                  <a:lnTo>
                    <a:pt x="3612769" y="9612884"/>
                  </a:lnTo>
                  <a:lnTo>
                    <a:pt x="3625469" y="9612884"/>
                  </a:lnTo>
                  <a:cubicBezTo>
                    <a:pt x="3625469" y="9686036"/>
                    <a:pt x="3566414" y="9745472"/>
                    <a:pt x="3493389" y="9745472"/>
                  </a:cubicBezTo>
                  <a:lnTo>
                    <a:pt x="3493389" y="9732772"/>
                  </a:lnTo>
                  <a:lnTo>
                    <a:pt x="3493389" y="9745472"/>
                  </a:lnTo>
                  <a:lnTo>
                    <a:pt x="132080" y="9745472"/>
                  </a:lnTo>
                  <a:lnTo>
                    <a:pt x="132080" y="9732772"/>
                  </a:lnTo>
                  <a:lnTo>
                    <a:pt x="132080" y="9745472"/>
                  </a:lnTo>
                  <a:cubicBezTo>
                    <a:pt x="59055" y="9745472"/>
                    <a:pt x="0" y="9686036"/>
                    <a:pt x="0" y="9612884"/>
                  </a:cubicBezTo>
                  <a:lnTo>
                    <a:pt x="0" y="132588"/>
                  </a:lnTo>
                  <a:lnTo>
                    <a:pt x="12700" y="132588"/>
                  </a:lnTo>
                  <a:lnTo>
                    <a:pt x="0" y="132588"/>
                  </a:lnTo>
                  <a:moveTo>
                    <a:pt x="25400" y="132588"/>
                  </a:moveTo>
                  <a:lnTo>
                    <a:pt x="25400" y="9612884"/>
                  </a:lnTo>
                  <a:lnTo>
                    <a:pt x="12700" y="9612884"/>
                  </a:lnTo>
                  <a:lnTo>
                    <a:pt x="25400" y="9612884"/>
                  </a:lnTo>
                  <a:cubicBezTo>
                    <a:pt x="25400" y="9672065"/>
                    <a:pt x="73152" y="9720072"/>
                    <a:pt x="132080" y="9720072"/>
                  </a:cubicBezTo>
                  <a:lnTo>
                    <a:pt x="3493389" y="9720072"/>
                  </a:lnTo>
                  <a:cubicBezTo>
                    <a:pt x="3552190" y="9720072"/>
                    <a:pt x="3600069" y="9672193"/>
                    <a:pt x="3600069" y="9612884"/>
                  </a:cubicBezTo>
                  <a:lnTo>
                    <a:pt x="3600069" y="132588"/>
                  </a:lnTo>
                  <a:cubicBezTo>
                    <a:pt x="3600069" y="73406"/>
                    <a:pt x="3552317" y="25400"/>
                    <a:pt x="3493389" y="25400"/>
                  </a:cubicBezTo>
                  <a:lnTo>
                    <a:pt x="132080" y="25400"/>
                  </a:lnTo>
                  <a:lnTo>
                    <a:pt x="132080" y="12700"/>
                  </a:lnTo>
                  <a:lnTo>
                    <a:pt x="132080" y="25400"/>
                  </a:lnTo>
                  <a:cubicBezTo>
                    <a:pt x="73152" y="25400"/>
                    <a:pt x="25400" y="73279"/>
                    <a:pt x="25400" y="1325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4"/>
          <p:cNvSpPr/>
          <p:nvPr/>
        </p:nvSpPr>
        <p:spPr>
          <a:xfrm rot="-5400000">
            <a:off x="8489651" y="7941192"/>
            <a:ext cx="2699957" cy="166783"/>
          </a:xfrm>
          <a:custGeom>
            <a:rect b="b" l="l" r="r" t="t"/>
            <a:pathLst>
              <a:path extrusionOk="0" h="222377" w="3599942">
                <a:moveTo>
                  <a:pt x="46736" y="0"/>
                </a:moveTo>
                <a:lnTo>
                  <a:pt x="3553206" y="0"/>
                </a:lnTo>
                <a:cubicBezTo>
                  <a:pt x="3578987" y="0"/>
                  <a:pt x="3599942" y="20955"/>
                  <a:pt x="3599942" y="46736"/>
                </a:cubicBezTo>
                <a:lnTo>
                  <a:pt x="3599942" y="222377"/>
                </a:lnTo>
                <a:lnTo>
                  <a:pt x="0" y="222377"/>
                </a:lnTo>
                <a:lnTo>
                  <a:pt x="0" y="46736"/>
                </a:lnTo>
                <a:cubicBezTo>
                  <a:pt x="0" y="20955"/>
                  <a:pt x="20955" y="0"/>
                  <a:pt x="4673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1670571" y="3801932"/>
            <a:ext cx="59618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안전 안내 문자 수신 거부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1650711" y="7130748"/>
            <a:ext cx="59618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재난문자의 안내 부족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2667000" y="8053959"/>
            <a:ext cx="6777790" cy="38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 정보만 제공할 뿐, 구체적 정보 부족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10161146" y="3801932"/>
            <a:ext cx="59618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예·경보 시스템의 한계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11161271" y="4622485"/>
            <a:ext cx="6777790" cy="38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장거리 이동 또는 낯선 환경에서 예· 경보 즉각 숙지의 어려움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10161146" y="7130748"/>
            <a:ext cx="596188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맞춤형 대피 안내 시스템 필요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11171901" y="8053959"/>
            <a:ext cx="6777790" cy="38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위치 기반으로 즉시 실행 가능한 대피 안내 시스템 필요성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2667000" y="4634254"/>
            <a:ext cx="6777790" cy="363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무분별한 재난문자 수신 피로감으로 인한 수신 거부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표식 단색으로 채워진" id="198" name="Google Shape;19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1146" y="794861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질문 단색으로 채워진" id="199" name="Google Shape;19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7217" y="794861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스피커폰 단색으로 채워진" id="200" name="Google Shape;20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00521" y="449528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경고 단색으로 채워진" id="201" name="Google Shape;20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18965" y="449528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207" name="Google Shape;207;p5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8" name="Google Shape;208;p5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209" name="Google Shape;209;p5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210" name="Google Shape;210;p5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프로젝트 목표</a:t>
              </a:r>
              <a:endParaRPr/>
            </a:p>
          </p:txBody>
        </p:sp>
      </p:grpSp>
      <p:grpSp>
        <p:nvGrpSpPr>
          <p:cNvPr id="211" name="Google Shape;211;p5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212" name="Google Shape;212;p5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213" name="Google Shape;213;p5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정보 전달을 넘어 실효성 있는 대피 안내 서비스 지향</a:t>
              </a:r>
              <a:endParaRPr/>
            </a:p>
          </p:txBody>
        </p:sp>
      </p:grpSp>
      <p:cxnSp>
        <p:nvCxnSpPr>
          <p:cNvPr id="214" name="Google Shape;214;p5"/>
          <p:cNvCxnSpPr/>
          <p:nvPr/>
        </p:nvCxnSpPr>
        <p:spPr>
          <a:xfrm>
            <a:off x="1181103" y="2652150"/>
            <a:ext cx="2220876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5" name="Google Shape;215;p5"/>
          <p:cNvGrpSpPr/>
          <p:nvPr/>
        </p:nvGrpSpPr>
        <p:grpSpPr>
          <a:xfrm rot="-5400000">
            <a:off x="3545904" y="1041172"/>
            <a:ext cx="2719102" cy="7309104"/>
            <a:chOff x="0" y="0"/>
            <a:chExt cx="3625469" cy="9745472"/>
          </a:xfrm>
        </p:grpSpPr>
        <p:sp>
          <p:nvSpPr>
            <p:cNvPr id="216" name="Google Shape;216;p5"/>
            <p:cNvSpPr/>
            <p:nvPr/>
          </p:nvSpPr>
          <p:spPr>
            <a:xfrm>
              <a:off x="12700" y="12700"/>
              <a:ext cx="3600069" cy="9720072"/>
            </a:xfrm>
            <a:custGeom>
              <a:rect b="b" l="l" r="r" t="t"/>
              <a:pathLst>
                <a:path extrusionOk="0" h="9720072" w="3600069">
                  <a:moveTo>
                    <a:pt x="0" y="119888"/>
                  </a:moveTo>
                  <a:cubicBezTo>
                    <a:pt x="0" y="53721"/>
                    <a:pt x="53467" y="0"/>
                    <a:pt x="119380" y="0"/>
                  </a:cubicBezTo>
                  <a:lnTo>
                    <a:pt x="3480689" y="0"/>
                  </a:lnTo>
                  <a:cubicBezTo>
                    <a:pt x="3546602" y="0"/>
                    <a:pt x="3600069" y="53721"/>
                    <a:pt x="3600069" y="119888"/>
                  </a:cubicBezTo>
                  <a:lnTo>
                    <a:pt x="3600069" y="9600184"/>
                  </a:lnTo>
                  <a:cubicBezTo>
                    <a:pt x="3600069" y="9666351"/>
                    <a:pt x="3546602" y="9720072"/>
                    <a:pt x="3480689" y="9720072"/>
                  </a:cubicBezTo>
                  <a:lnTo>
                    <a:pt x="119380" y="9720072"/>
                  </a:lnTo>
                  <a:cubicBezTo>
                    <a:pt x="53467" y="9720072"/>
                    <a:pt x="0" y="9666351"/>
                    <a:pt x="0" y="9600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0" y="0"/>
              <a:ext cx="3625469" cy="9745472"/>
            </a:xfrm>
            <a:custGeom>
              <a:rect b="b" l="l" r="r" t="t"/>
              <a:pathLst>
                <a:path extrusionOk="0" h="9745472" w="3625469">
                  <a:moveTo>
                    <a:pt x="0" y="132588"/>
                  </a:moveTo>
                  <a:cubicBezTo>
                    <a:pt x="0" y="59436"/>
                    <a:pt x="59055" y="0"/>
                    <a:pt x="132080" y="0"/>
                  </a:cubicBezTo>
                  <a:lnTo>
                    <a:pt x="3493389" y="0"/>
                  </a:lnTo>
                  <a:lnTo>
                    <a:pt x="3493389" y="12700"/>
                  </a:lnTo>
                  <a:lnTo>
                    <a:pt x="3493389" y="0"/>
                  </a:lnTo>
                  <a:cubicBezTo>
                    <a:pt x="3566414" y="0"/>
                    <a:pt x="3625469" y="59436"/>
                    <a:pt x="3625469" y="132588"/>
                  </a:cubicBezTo>
                  <a:lnTo>
                    <a:pt x="3612769" y="132588"/>
                  </a:lnTo>
                  <a:lnTo>
                    <a:pt x="3625469" y="132588"/>
                  </a:lnTo>
                  <a:lnTo>
                    <a:pt x="3625469" y="9612884"/>
                  </a:lnTo>
                  <a:lnTo>
                    <a:pt x="3612769" y="9612884"/>
                  </a:lnTo>
                  <a:lnTo>
                    <a:pt x="3625469" y="9612884"/>
                  </a:lnTo>
                  <a:cubicBezTo>
                    <a:pt x="3625469" y="9686036"/>
                    <a:pt x="3566414" y="9745472"/>
                    <a:pt x="3493389" y="9745472"/>
                  </a:cubicBezTo>
                  <a:lnTo>
                    <a:pt x="3493389" y="9732772"/>
                  </a:lnTo>
                  <a:lnTo>
                    <a:pt x="3493389" y="9745472"/>
                  </a:lnTo>
                  <a:lnTo>
                    <a:pt x="132080" y="9745472"/>
                  </a:lnTo>
                  <a:lnTo>
                    <a:pt x="132080" y="9732772"/>
                  </a:lnTo>
                  <a:lnTo>
                    <a:pt x="132080" y="9745472"/>
                  </a:lnTo>
                  <a:cubicBezTo>
                    <a:pt x="59055" y="9745472"/>
                    <a:pt x="0" y="9686036"/>
                    <a:pt x="0" y="9612884"/>
                  </a:cubicBezTo>
                  <a:lnTo>
                    <a:pt x="0" y="132588"/>
                  </a:lnTo>
                  <a:lnTo>
                    <a:pt x="12700" y="132588"/>
                  </a:lnTo>
                  <a:lnTo>
                    <a:pt x="0" y="132588"/>
                  </a:lnTo>
                  <a:moveTo>
                    <a:pt x="25400" y="132588"/>
                  </a:moveTo>
                  <a:lnTo>
                    <a:pt x="25400" y="9612884"/>
                  </a:lnTo>
                  <a:lnTo>
                    <a:pt x="12700" y="9612884"/>
                  </a:lnTo>
                  <a:lnTo>
                    <a:pt x="25400" y="9612884"/>
                  </a:lnTo>
                  <a:cubicBezTo>
                    <a:pt x="25400" y="9672065"/>
                    <a:pt x="73152" y="9720072"/>
                    <a:pt x="132080" y="9720072"/>
                  </a:cubicBezTo>
                  <a:lnTo>
                    <a:pt x="3493389" y="9720072"/>
                  </a:lnTo>
                  <a:cubicBezTo>
                    <a:pt x="3552190" y="9720072"/>
                    <a:pt x="3600069" y="9672193"/>
                    <a:pt x="3600069" y="9612884"/>
                  </a:cubicBezTo>
                  <a:lnTo>
                    <a:pt x="3600069" y="132588"/>
                  </a:lnTo>
                  <a:cubicBezTo>
                    <a:pt x="3600069" y="73406"/>
                    <a:pt x="3552317" y="25400"/>
                    <a:pt x="3493389" y="25400"/>
                  </a:cubicBezTo>
                  <a:lnTo>
                    <a:pt x="132080" y="25400"/>
                  </a:lnTo>
                  <a:lnTo>
                    <a:pt x="132080" y="12700"/>
                  </a:lnTo>
                  <a:lnTo>
                    <a:pt x="132080" y="25400"/>
                  </a:lnTo>
                  <a:cubicBezTo>
                    <a:pt x="73152" y="25400"/>
                    <a:pt x="25400" y="73279"/>
                    <a:pt x="25400" y="1325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5"/>
          <p:cNvSpPr/>
          <p:nvPr/>
        </p:nvSpPr>
        <p:spPr>
          <a:xfrm rot="-5400000">
            <a:off x="-4620" y="4612376"/>
            <a:ext cx="2699957" cy="166783"/>
          </a:xfrm>
          <a:custGeom>
            <a:rect b="b" l="l" r="r" t="t"/>
            <a:pathLst>
              <a:path extrusionOk="0" h="222377" w="3599942">
                <a:moveTo>
                  <a:pt x="46736" y="0"/>
                </a:moveTo>
                <a:lnTo>
                  <a:pt x="3553206" y="0"/>
                </a:lnTo>
                <a:cubicBezTo>
                  <a:pt x="3578987" y="0"/>
                  <a:pt x="3599942" y="20955"/>
                  <a:pt x="3599942" y="46736"/>
                </a:cubicBezTo>
                <a:lnTo>
                  <a:pt x="3599942" y="222377"/>
                </a:lnTo>
                <a:lnTo>
                  <a:pt x="0" y="222377"/>
                </a:lnTo>
                <a:lnTo>
                  <a:pt x="0" y="46736"/>
                </a:lnTo>
                <a:cubicBezTo>
                  <a:pt x="0" y="20955"/>
                  <a:pt x="20955" y="0"/>
                  <a:pt x="46736" y="0"/>
                </a:cubicBezTo>
                <a:close/>
              </a:path>
            </a:pathLst>
          </a:custGeom>
          <a:solidFill>
            <a:srgbClr val="62B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1719339" y="3673945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62B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5"/>
          <p:cNvGrpSpPr/>
          <p:nvPr/>
        </p:nvGrpSpPr>
        <p:grpSpPr>
          <a:xfrm rot="-5400000">
            <a:off x="12037051" y="1041172"/>
            <a:ext cx="2719102" cy="7309104"/>
            <a:chOff x="0" y="0"/>
            <a:chExt cx="3625469" cy="9745472"/>
          </a:xfrm>
        </p:grpSpPr>
        <p:sp>
          <p:nvSpPr>
            <p:cNvPr id="221" name="Google Shape;221;p5"/>
            <p:cNvSpPr/>
            <p:nvPr/>
          </p:nvSpPr>
          <p:spPr>
            <a:xfrm>
              <a:off x="12700" y="12700"/>
              <a:ext cx="3600069" cy="9720072"/>
            </a:xfrm>
            <a:custGeom>
              <a:rect b="b" l="l" r="r" t="t"/>
              <a:pathLst>
                <a:path extrusionOk="0" h="9720072" w="3600069">
                  <a:moveTo>
                    <a:pt x="0" y="119888"/>
                  </a:moveTo>
                  <a:cubicBezTo>
                    <a:pt x="0" y="53721"/>
                    <a:pt x="53467" y="0"/>
                    <a:pt x="119380" y="0"/>
                  </a:cubicBezTo>
                  <a:lnTo>
                    <a:pt x="3480689" y="0"/>
                  </a:lnTo>
                  <a:cubicBezTo>
                    <a:pt x="3546602" y="0"/>
                    <a:pt x="3600069" y="53721"/>
                    <a:pt x="3600069" y="119888"/>
                  </a:cubicBezTo>
                  <a:lnTo>
                    <a:pt x="3600069" y="9600184"/>
                  </a:lnTo>
                  <a:cubicBezTo>
                    <a:pt x="3600069" y="9666351"/>
                    <a:pt x="3546602" y="9720072"/>
                    <a:pt x="3480689" y="9720072"/>
                  </a:cubicBezTo>
                  <a:lnTo>
                    <a:pt x="119380" y="9720072"/>
                  </a:lnTo>
                  <a:cubicBezTo>
                    <a:pt x="53467" y="9720072"/>
                    <a:pt x="0" y="9666351"/>
                    <a:pt x="0" y="9600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0" y="0"/>
              <a:ext cx="3625469" cy="9745472"/>
            </a:xfrm>
            <a:custGeom>
              <a:rect b="b" l="l" r="r" t="t"/>
              <a:pathLst>
                <a:path extrusionOk="0" h="9745472" w="3625469">
                  <a:moveTo>
                    <a:pt x="0" y="132588"/>
                  </a:moveTo>
                  <a:cubicBezTo>
                    <a:pt x="0" y="59436"/>
                    <a:pt x="59055" y="0"/>
                    <a:pt x="132080" y="0"/>
                  </a:cubicBezTo>
                  <a:lnTo>
                    <a:pt x="3493389" y="0"/>
                  </a:lnTo>
                  <a:lnTo>
                    <a:pt x="3493389" y="12700"/>
                  </a:lnTo>
                  <a:lnTo>
                    <a:pt x="3493389" y="0"/>
                  </a:lnTo>
                  <a:cubicBezTo>
                    <a:pt x="3566414" y="0"/>
                    <a:pt x="3625469" y="59436"/>
                    <a:pt x="3625469" y="132588"/>
                  </a:cubicBezTo>
                  <a:lnTo>
                    <a:pt x="3612769" y="132588"/>
                  </a:lnTo>
                  <a:lnTo>
                    <a:pt x="3625469" y="132588"/>
                  </a:lnTo>
                  <a:lnTo>
                    <a:pt x="3625469" y="9612884"/>
                  </a:lnTo>
                  <a:lnTo>
                    <a:pt x="3612769" y="9612884"/>
                  </a:lnTo>
                  <a:lnTo>
                    <a:pt x="3625469" y="9612884"/>
                  </a:lnTo>
                  <a:cubicBezTo>
                    <a:pt x="3625469" y="9686036"/>
                    <a:pt x="3566414" y="9745472"/>
                    <a:pt x="3493389" y="9745472"/>
                  </a:cubicBezTo>
                  <a:lnTo>
                    <a:pt x="3493389" y="9732772"/>
                  </a:lnTo>
                  <a:lnTo>
                    <a:pt x="3493389" y="9745472"/>
                  </a:lnTo>
                  <a:lnTo>
                    <a:pt x="132080" y="9745472"/>
                  </a:lnTo>
                  <a:lnTo>
                    <a:pt x="132080" y="9732772"/>
                  </a:lnTo>
                  <a:lnTo>
                    <a:pt x="132080" y="9745472"/>
                  </a:lnTo>
                  <a:cubicBezTo>
                    <a:pt x="59055" y="9745472"/>
                    <a:pt x="0" y="9686036"/>
                    <a:pt x="0" y="9612884"/>
                  </a:cubicBezTo>
                  <a:lnTo>
                    <a:pt x="0" y="132588"/>
                  </a:lnTo>
                  <a:lnTo>
                    <a:pt x="12700" y="132588"/>
                  </a:lnTo>
                  <a:lnTo>
                    <a:pt x="0" y="132588"/>
                  </a:lnTo>
                  <a:moveTo>
                    <a:pt x="25400" y="132588"/>
                  </a:moveTo>
                  <a:lnTo>
                    <a:pt x="25400" y="9612884"/>
                  </a:lnTo>
                  <a:lnTo>
                    <a:pt x="12700" y="9612884"/>
                  </a:lnTo>
                  <a:lnTo>
                    <a:pt x="25400" y="9612884"/>
                  </a:lnTo>
                  <a:cubicBezTo>
                    <a:pt x="25400" y="9672065"/>
                    <a:pt x="73152" y="9720072"/>
                    <a:pt x="132080" y="9720072"/>
                  </a:cubicBezTo>
                  <a:lnTo>
                    <a:pt x="3493389" y="9720072"/>
                  </a:lnTo>
                  <a:cubicBezTo>
                    <a:pt x="3552190" y="9720072"/>
                    <a:pt x="3600069" y="9672193"/>
                    <a:pt x="3600069" y="9612884"/>
                  </a:cubicBezTo>
                  <a:lnTo>
                    <a:pt x="3600069" y="132588"/>
                  </a:lnTo>
                  <a:cubicBezTo>
                    <a:pt x="3600069" y="73406"/>
                    <a:pt x="3552317" y="25400"/>
                    <a:pt x="3493389" y="25400"/>
                  </a:cubicBezTo>
                  <a:lnTo>
                    <a:pt x="132080" y="25400"/>
                  </a:lnTo>
                  <a:lnTo>
                    <a:pt x="132080" y="12700"/>
                  </a:lnTo>
                  <a:lnTo>
                    <a:pt x="132080" y="25400"/>
                  </a:lnTo>
                  <a:cubicBezTo>
                    <a:pt x="73152" y="25400"/>
                    <a:pt x="25400" y="73279"/>
                    <a:pt x="25400" y="1325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5"/>
          <p:cNvSpPr/>
          <p:nvPr/>
        </p:nvSpPr>
        <p:spPr>
          <a:xfrm rot="-5400000">
            <a:off x="8489651" y="4612376"/>
            <a:ext cx="2699957" cy="166783"/>
          </a:xfrm>
          <a:custGeom>
            <a:rect b="b" l="l" r="r" t="t"/>
            <a:pathLst>
              <a:path extrusionOk="0" h="222377" w="3599942">
                <a:moveTo>
                  <a:pt x="46736" y="0"/>
                </a:moveTo>
                <a:lnTo>
                  <a:pt x="3553206" y="0"/>
                </a:lnTo>
                <a:cubicBezTo>
                  <a:pt x="3578987" y="0"/>
                  <a:pt x="3599942" y="20955"/>
                  <a:pt x="3599942" y="46736"/>
                </a:cubicBezTo>
                <a:lnTo>
                  <a:pt x="3599942" y="222377"/>
                </a:lnTo>
                <a:lnTo>
                  <a:pt x="0" y="222377"/>
                </a:lnTo>
                <a:lnTo>
                  <a:pt x="0" y="46736"/>
                </a:lnTo>
                <a:cubicBezTo>
                  <a:pt x="0" y="20955"/>
                  <a:pt x="20955" y="0"/>
                  <a:pt x="46736" y="0"/>
                </a:cubicBezTo>
                <a:close/>
              </a:path>
            </a:pathLst>
          </a:custGeom>
          <a:solidFill>
            <a:srgbClr val="BD9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10213610" y="3673945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BD9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5"/>
          <p:cNvGrpSpPr/>
          <p:nvPr/>
        </p:nvGrpSpPr>
        <p:grpSpPr>
          <a:xfrm rot="-5400000">
            <a:off x="12037051" y="4369988"/>
            <a:ext cx="2719102" cy="7309104"/>
            <a:chOff x="0" y="0"/>
            <a:chExt cx="3625469" cy="9745472"/>
          </a:xfrm>
        </p:grpSpPr>
        <p:sp>
          <p:nvSpPr>
            <p:cNvPr id="226" name="Google Shape;226;p5"/>
            <p:cNvSpPr/>
            <p:nvPr/>
          </p:nvSpPr>
          <p:spPr>
            <a:xfrm>
              <a:off x="12700" y="12700"/>
              <a:ext cx="3600069" cy="9720072"/>
            </a:xfrm>
            <a:custGeom>
              <a:rect b="b" l="l" r="r" t="t"/>
              <a:pathLst>
                <a:path extrusionOk="0" h="9720072" w="3600069">
                  <a:moveTo>
                    <a:pt x="0" y="119888"/>
                  </a:moveTo>
                  <a:cubicBezTo>
                    <a:pt x="0" y="53721"/>
                    <a:pt x="53467" y="0"/>
                    <a:pt x="119380" y="0"/>
                  </a:cubicBezTo>
                  <a:lnTo>
                    <a:pt x="3480689" y="0"/>
                  </a:lnTo>
                  <a:cubicBezTo>
                    <a:pt x="3546602" y="0"/>
                    <a:pt x="3600069" y="53721"/>
                    <a:pt x="3600069" y="119888"/>
                  </a:cubicBezTo>
                  <a:lnTo>
                    <a:pt x="3600069" y="9600184"/>
                  </a:lnTo>
                  <a:cubicBezTo>
                    <a:pt x="3600069" y="9666351"/>
                    <a:pt x="3546602" y="9720072"/>
                    <a:pt x="3480689" y="9720072"/>
                  </a:cubicBezTo>
                  <a:lnTo>
                    <a:pt x="119380" y="9720072"/>
                  </a:lnTo>
                  <a:cubicBezTo>
                    <a:pt x="53467" y="9720072"/>
                    <a:pt x="0" y="9666351"/>
                    <a:pt x="0" y="9600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0" y="0"/>
              <a:ext cx="3625469" cy="9745472"/>
            </a:xfrm>
            <a:custGeom>
              <a:rect b="b" l="l" r="r" t="t"/>
              <a:pathLst>
                <a:path extrusionOk="0" h="9745472" w="3625469">
                  <a:moveTo>
                    <a:pt x="0" y="132588"/>
                  </a:moveTo>
                  <a:cubicBezTo>
                    <a:pt x="0" y="59436"/>
                    <a:pt x="59055" y="0"/>
                    <a:pt x="132080" y="0"/>
                  </a:cubicBezTo>
                  <a:lnTo>
                    <a:pt x="3493389" y="0"/>
                  </a:lnTo>
                  <a:lnTo>
                    <a:pt x="3493389" y="12700"/>
                  </a:lnTo>
                  <a:lnTo>
                    <a:pt x="3493389" y="0"/>
                  </a:lnTo>
                  <a:cubicBezTo>
                    <a:pt x="3566414" y="0"/>
                    <a:pt x="3625469" y="59436"/>
                    <a:pt x="3625469" y="132588"/>
                  </a:cubicBezTo>
                  <a:lnTo>
                    <a:pt x="3612769" y="132588"/>
                  </a:lnTo>
                  <a:lnTo>
                    <a:pt x="3625469" y="132588"/>
                  </a:lnTo>
                  <a:lnTo>
                    <a:pt x="3625469" y="9612884"/>
                  </a:lnTo>
                  <a:lnTo>
                    <a:pt x="3612769" y="9612884"/>
                  </a:lnTo>
                  <a:lnTo>
                    <a:pt x="3625469" y="9612884"/>
                  </a:lnTo>
                  <a:cubicBezTo>
                    <a:pt x="3625469" y="9686036"/>
                    <a:pt x="3566414" y="9745472"/>
                    <a:pt x="3493389" y="9745472"/>
                  </a:cubicBezTo>
                  <a:lnTo>
                    <a:pt x="3493389" y="9732772"/>
                  </a:lnTo>
                  <a:lnTo>
                    <a:pt x="3493389" y="9745472"/>
                  </a:lnTo>
                  <a:lnTo>
                    <a:pt x="132080" y="9745472"/>
                  </a:lnTo>
                  <a:lnTo>
                    <a:pt x="132080" y="9732772"/>
                  </a:lnTo>
                  <a:lnTo>
                    <a:pt x="132080" y="9745472"/>
                  </a:lnTo>
                  <a:cubicBezTo>
                    <a:pt x="59055" y="9745472"/>
                    <a:pt x="0" y="9686036"/>
                    <a:pt x="0" y="9612884"/>
                  </a:cubicBezTo>
                  <a:lnTo>
                    <a:pt x="0" y="132588"/>
                  </a:lnTo>
                  <a:lnTo>
                    <a:pt x="12700" y="132588"/>
                  </a:lnTo>
                  <a:lnTo>
                    <a:pt x="0" y="132588"/>
                  </a:lnTo>
                  <a:moveTo>
                    <a:pt x="25400" y="132588"/>
                  </a:moveTo>
                  <a:lnTo>
                    <a:pt x="25400" y="9612884"/>
                  </a:lnTo>
                  <a:lnTo>
                    <a:pt x="12700" y="9612884"/>
                  </a:lnTo>
                  <a:lnTo>
                    <a:pt x="25400" y="9612884"/>
                  </a:lnTo>
                  <a:cubicBezTo>
                    <a:pt x="25400" y="9672065"/>
                    <a:pt x="73152" y="9720072"/>
                    <a:pt x="132080" y="9720072"/>
                  </a:cubicBezTo>
                  <a:lnTo>
                    <a:pt x="3493389" y="9720072"/>
                  </a:lnTo>
                  <a:cubicBezTo>
                    <a:pt x="3552190" y="9720072"/>
                    <a:pt x="3600069" y="9672193"/>
                    <a:pt x="3600069" y="9612884"/>
                  </a:cubicBezTo>
                  <a:lnTo>
                    <a:pt x="3600069" y="132588"/>
                  </a:lnTo>
                  <a:cubicBezTo>
                    <a:pt x="3600069" y="73406"/>
                    <a:pt x="3552317" y="25400"/>
                    <a:pt x="3493389" y="25400"/>
                  </a:cubicBezTo>
                  <a:lnTo>
                    <a:pt x="132080" y="25400"/>
                  </a:lnTo>
                  <a:lnTo>
                    <a:pt x="132080" y="12700"/>
                  </a:lnTo>
                  <a:lnTo>
                    <a:pt x="132080" y="25400"/>
                  </a:lnTo>
                  <a:cubicBezTo>
                    <a:pt x="73152" y="25400"/>
                    <a:pt x="25400" y="73279"/>
                    <a:pt x="25400" y="1325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5"/>
          <p:cNvSpPr/>
          <p:nvPr/>
        </p:nvSpPr>
        <p:spPr>
          <a:xfrm rot="-5400000">
            <a:off x="8489651" y="7941192"/>
            <a:ext cx="2699957" cy="166783"/>
          </a:xfrm>
          <a:custGeom>
            <a:rect b="b" l="l" r="r" t="t"/>
            <a:pathLst>
              <a:path extrusionOk="0" h="222377" w="3599942">
                <a:moveTo>
                  <a:pt x="46736" y="0"/>
                </a:moveTo>
                <a:lnTo>
                  <a:pt x="3553206" y="0"/>
                </a:lnTo>
                <a:cubicBezTo>
                  <a:pt x="3578987" y="0"/>
                  <a:pt x="3599942" y="20955"/>
                  <a:pt x="3599942" y="46736"/>
                </a:cubicBezTo>
                <a:lnTo>
                  <a:pt x="3599942" y="222377"/>
                </a:lnTo>
                <a:lnTo>
                  <a:pt x="0" y="222377"/>
                </a:lnTo>
                <a:lnTo>
                  <a:pt x="0" y="46736"/>
                </a:lnTo>
                <a:cubicBezTo>
                  <a:pt x="0" y="20955"/>
                  <a:pt x="20955" y="0"/>
                  <a:pt x="46736" y="0"/>
                </a:cubicBezTo>
                <a:close/>
              </a:path>
            </a:pathLst>
          </a:custGeom>
          <a:solidFill>
            <a:srgbClr val="FB9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10213610" y="7002761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FB9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5"/>
          <p:cNvGrpSpPr/>
          <p:nvPr/>
        </p:nvGrpSpPr>
        <p:grpSpPr>
          <a:xfrm rot="-5400000">
            <a:off x="3545904" y="4369988"/>
            <a:ext cx="2719102" cy="7309104"/>
            <a:chOff x="0" y="0"/>
            <a:chExt cx="3625469" cy="9745472"/>
          </a:xfrm>
        </p:grpSpPr>
        <p:sp>
          <p:nvSpPr>
            <p:cNvPr id="231" name="Google Shape;231;p5"/>
            <p:cNvSpPr/>
            <p:nvPr/>
          </p:nvSpPr>
          <p:spPr>
            <a:xfrm>
              <a:off x="12700" y="12700"/>
              <a:ext cx="3600069" cy="9720072"/>
            </a:xfrm>
            <a:custGeom>
              <a:rect b="b" l="l" r="r" t="t"/>
              <a:pathLst>
                <a:path extrusionOk="0" h="9720072" w="3600069">
                  <a:moveTo>
                    <a:pt x="0" y="119888"/>
                  </a:moveTo>
                  <a:cubicBezTo>
                    <a:pt x="0" y="53721"/>
                    <a:pt x="53467" y="0"/>
                    <a:pt x="119380" y="0"/>
                  </a:cubicBezTo>
                  <a:lnTo>
                    <a:pt x="3480689" y="0"/>
                  </a:lnTo>
                  <a:cubicBezTo>
                    <a:pt x="3546602" y="0"/>
                    <a:pt x="3600069" y="53721"/>
                    <a:pt x="3600069" y="119888"/>
                  </a:cubicBezTo>
                  <a:lnTo>
                    <a:pt x="3600069" y="9600184"/>
                  </a:lnTo>
                  <a:cubicBezTo>
                    <a:pt x="3600069" y="9666351"/>
                    <a:pt x="3546602" y="9720072"/>
                    <a:pt x="3480689" y="9720072"/>
                  </a:cubicBezTo>
                  <a:lnTo>
                    <a:pt x="119380" y="9720072"/>
                  </a:lnTo>
                  <a:cubicBezTo>
                    <a:pt x="53467" y="9720072"/>
                    <a:pt x="0" y="9666351"/>
                    <a:pt x="0" y="9600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0" y="0"/>
              <a:ext cx="3625469" cy="9745472"/>
            </a:xfrm>
            <a:custGeom>
              <a:rect b="b" l="l" r="r" t="t"/>
              <a:pathLst>
                <a:path extrusionOk="0" h="9745472" w="3625469">
                  <a:moveTo>
                    <a:pt x="0" y="132588"/>
                  </a:moveTo>
                  <a:cubicBezTo>
                    <a:pt x="0" y="59436"/>
                    <a:pt x="59055" y="0"/>
                    <a:pt x="132080" y="0"/>
                  </a:cubicBezTo>
                  <a:lnTo>
                    <a:pt x="3493389" y="0"/>
                  </a:lnTo>
                  <a:lnTo>
                    <a:pt x="3493389" y="12700"/>
                  </a:lnTo>
                  <a:lnTo>
                    <a:pt x="3493389" y="0"/>
                  </a:lnTo>
                  <a:cubicBezTo>
                    <a:pt x="3566414" y="0"/>
                    <a:pt x="3625469" y="59436"/>
                    <a:pt x="3625469" y="132588"/>
                  </a:cubicBezTo>
                  <a:lnTo>
                    <a:pt x="3612769" y="132588"/>
                  </a:lnTo>
                  <a:lnTo>
                    <a:pt x="3625469" y="132588"/>
                  </a:lnTo>
                  <a:lnTo>
                    <a:pt x="3625469" y="9612884"/>
                  </a:lnTo>
                  <a:lnTo>
                    <a:pt x="3612769" y="9612884"/>
                  </a:lnTo>
                  <a:lnTo>
                    <a:pt x="3625469" y="9612884"/>
                  </a:lnTo>
                  <a:cubicBezTo>
                    <a:pt x="3625469" y="9686036"/>
                    <a:pt x="3566414" y="9745472"/>
                    <a:pt x="3493389" y="9745472"/>
                  </a:cubicBezTo>
                  <a:lnTo>
                    <a:pt x="3493389" y="9732772"/>
                  </a:lnTo>
                  <a:lnTo>
                    <a:pt x="3493389" y="9745472"/>
                  </a:lnTo>
                  <a:lnTo>
                    <a:pt x="132080" y="9745472"/>
                  </a:lnTo>
                  <a:lnTo>
                    <a:pt x="132080" y="9732772"/>
                  </a:lnTo>
                  <a:lnTo>
                    <a:pt x="132080" y="9745472"/>
                  </a:lnTo>
                  <a:cubicBezTo>
                    <a:pt x="59055" y="9745472"/>
                    <a:pt x="0" y="9686036"/>
                    <a:pt x="0" y="9612884"/>
                  </a:cubicBezTo>
                  <a:lnTo>
                    <a:pt x="0" y="132588"/>
                  </a:lnTo>
                  <a:lnTo>
                    <a:pt x="12700" y="132588"/>
                  </a:lnTo>
                  <a:lnTo>
                    <a:pt x="0" y="132588"/>
                  </a:lnTo>
                  <a:moveTo>
                    <a:pt x="25400" y="132588"/>
                  </a:moveTo>
                  <a:lnTo>
                    <a:pt x="25400" y="9612884"/>
                  </a:lnTo>
                  <a:lnTo>
                    <a:pt x="12700" y="9612884"/>
                  </a:lnTo>
                  <a:lnTo>
                    <a:pt x="25400" y="9612884"/>
                  </a:lnTo>
                  <a:cubicBezTo>
                    <a:pt x="25400" y="9672065"/>
                    <a:pt x="73152" y="9720072"/>
                    <a:pt x="132080" y="9720072"/>
                  </a:cubicBezTo>
                  <a:lnTo>
                    <a:pt x="3493389" y="9720072"/>
                  </a:lnTo>
                  <a:cubicBezTo>
                    <a:pt x="3552190" y="9720072"/>
                    <a:pt x="3600069" y="9672193"/>
                    <a:pt x="3600069" y="9612884"/>
                  </a:cubicBezTo>
                  <a:lnTo>
                    <a:pt x="3600069" y="132588"/>
                  </a:lnTo>
                  <a:cubicBezTo>
                    <a:pt x="3600069" y="73406"/>
                    <a:pt x="3552317" y="25400"/>
                    <a:pt x="3493389" y="25400"/>
                  </a:cubicBezTo>
                  <a:lnTo>
                    <a:pt x="132080" y="25400"/>
                  </a:lnTo>
                  <a:lnTo>
                    <a:pt x="132080" y="12700"/>
                  </a:lnTo>
                  <a:lnTo>
                    <a:pt x="132080" y="25400"/>
                  </a:lnTo>
                  <a:cubicBezTo>
                    <a:pt x="73152" y="25400"/>
                    <a:pt x="25400" y="73279"/>
                    <a:pt x="25400" y="13258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5"/>
          <p:cNvSpPr/>
          <p:nvPr/>
        </p:nvSpPr>
        <p:spPr>
          <a:xfrm rot="-5400000">
            <a:off x="-4620" y="7941192"/>
            <a:ext cx="2699957" cy="166783"/>
          </a:xfrm>
          <a:custGeom>
            <a:rect b="b" l="l" r="r" t="t"/>
            <a:pathLst>
              <a:path extrusionOk="0" h="222377" w="3599942">
                <a:moveTo>
                  <a:pt x="46736" y="0"/>
                </a:moveTo>
                <a:lnTo>
                  <a:pt x="3553206" y="0"/>
                </a:lnTo>
                <a:cubicBezTo>
                  <a:pt x="3578987" y="0"/>
                  <a:pt x="3599942" y="20955"/>
                  <a:pt x="3599942" y="46736"/>
                </a:cubicBezTo>
                <a:lnTo>
                  <a:pt x="3599942" y="222377"/>
                </a:lnTo>
                <a:lnTo>
                  <a:pt x="0" y="222377"/>
                </a:lnTo>
                <a:lnTo>
                  <a:pt x="0" y="46736"/>
                </a:lnTo>
                <a:cubicBezTo>
                  <a:pt x="0" y="20955"/>
                  <a:pt x="20955" y="0"/>
                  <a:pt x="4673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1719339" y="7002761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6589385" y="4526025"/>
            <a:ext cx="1869606" cy="1403904"/>
          </a:xfrm>
          <a:custGeom>
            <a:rect b="b" l="l" r="r" t="t"/>
            <a:pathLst>
              <a:path extrusionOk="0" h="1403904" w="1869606">
                <a:moveTo>
                  <a:pt x="0" y="0"/>
                </a:moveTo>
                <a:lnTo>
                  <a:pt x="1869606" y="0"/>
                </a:lnTo>
                <a:lnTo>
                  <a:pt x="1869606" y="1403904"/>
                </a:lnTo>
                <a:lnTo>
                  <a:pt x="0" y="140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5"/>
          <p:cNvSpPr/>
          <p:nvPr/>
        </p:nvSpPr>
        <p:spPr>
          <a:xfrm>
            <a:off x="15468599" y="4762500"/>
            <a:ext cx="1376467" cy="1144959"/>
          </a:xfrm>
          <a:custGeom>
            <a:rect b="b" l="l" r="r" t="t"/>
            <a:pathLst>
              <a:path extrusionOk="0" h="1349997" w="1576430">
                <a:moveTo>
                  <a:pt x="0" y="0"/>
                </a:moveTo>
                <a:lnTo>
                  <a:pt x="1576430" y="0"/>
                </a:lnTo>
                <a:lnTo>
                  <a:pt x="1576430" y="1349997"/>
                </a:lnTo>
                <a:lnTo>
                  <a:pt x="0" y="1349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5"/>
          <p:cNvSpPr/>
          <p:nvPr/>
        </p:nvSpPr>
        <p:spPr>
          <a:xfrm>
            <a:off x="6096000" y="7752077"/>
            <a:ext cx="2599778" cy="1902387"/>
          </a:xfrm>
          <a:custGeom>
            <a:rect b="b" l="l" r="r" t="t"/>
            <a:pathLst>
              <a:path extrusionOk="0" h="1702973" w="2556058">
                <a:moveTo>
                  <a:pt x="0" y="0"/>
                </a:moveTo>
                <a:lnTo>
                  <a:pt x="2556057" y="0"/>
                </a:lnTo>
                <a:lnTo>
                  <a:pt x="2556057" y="1702973"/>
                </a:lnTo>
                <a:lnTo>
                  <a:pt x="0" y="1702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5"/>
          <p:cNvSpPr/>
          <p:nvPr/>
        </p:nvSpPr>
        <p:spPr>
          <a:xfrm>
            <a:off x="14935200" y="7851259"/>
            <a:ext cx="2599778" cy="1803205"/>
          </a:xfrm>
          <a:custGeom>
            <a:rect b="b" l="l" r="r" t="t"/>
            <a:pathLst>
              <a:path extrusionOk="0" h="1588990" w="2384976">
                <a:moveTo>
                  <a:pt x="0" y="0"/>
                </a:moveTo>
                <a:lnTo>
                  <a:pt x="2384976" y="0"/>
                </a:lnTo>
                <a:lnTo>
                  <a:pt x="2384976" y="1588990"/>
                </a:lnTo>
                <a:lnTo>
                  <a:pt x="0" y="15889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5"/>
          <p:cNvSpPr txBox="1"/>
          <p:nvPr/>
        </p:nvSpPr>
        <p:spPr>
          <a:xfrm>
            <a:off x="1436027" y="4390949"/>
            <a:ext cx="6938801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rgbClr val="62B2FA"/>
                </a:solidFill>
                <a:latin typeface="Arial"/>
                <a:ea typeface="Arial"/>
                <a:cs typeface="Arial"/>
                <a:sym typeface="Arial"/>
              </a:rPr>
              <a:t>맞춤형 대피소 추천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9948081" y="4390949"/>
            <a:ext cx="689698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rgbClr val="BD9CE8"/>
                </a:solidFill>
                <a:latin typeface="Arial"/>
                <a:ea typeface="Arial"/>
                <a:cs typeface="Arial"/>
                <a:sym typeface="Arial"/>
              </a:rPr>
              <a:t>위치기반 대피소 제시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9948081" y="7675388"/>
            <a:ext cx="689698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rgbClr val="FB93C7"/>
                </a:solidFill>
                <a:latin typeface="Arial"/>
                <a:ea typeface="Arial"/>
                <a:cs typeface="Arial"/>
                <a:sym typeface="Arial"/>
              </a:rPr>
              <a:t>실시간 대응 구조 구현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1436027" y="7719765"/>
            <a:ext cx="6938801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이동 가능 경로 안내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/>
          <p:nvPr/>
        </p:nvSpPr>
        <p:spPr>
          <a:xfrm>
            <a:off x="-46853" y="-14311"/>
            <a:ext cx="1830705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248" name="Google Shape;248;p6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9" name="Google Shape;249;p6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250" name="Google Shape;250;p6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251" name="Google Shape;251;p6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 선별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p6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253" name="Google Shape;253;p6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254" name="Google Shape;254;p6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재난 안전 데이터 공유 플랫폼 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5" name="Google Shape;255;p6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56" name="Google Shape;256;p6"/>
          <p:cNvGraphicFramePr/>
          <p:nvPr/>
        </p:nvGraphicFramePr>
        <p:xfrm>
          <a:off x="304800" y="4134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{FC8F17FE-1BD8-4AFD-A12C-E02E504DA770}</a:tableStyleId>
              </a:tblPr>
              <a:tblGrid>
                <a:gridCol w="1800000"/>
                <a:gridCol w="1260000"/>
                <a:gridCol w="1260000"/>
                <a:gridCol w="1260000"/>
                <a:gridCol w="1260000"/>
                <a:gridCol w="10800000"/>
              </a:tblGrid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발표시간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지역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시군구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재난종류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특보등급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해당지역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2023-01-01 10:00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경북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군위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한파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주의보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(1) 한파주의보 발표 : 경상북도(군위. 안동. 영주. 의성. 청송. 영양평지. 봉화평지. 경북북동산지)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2023-01-01 10:00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경북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안동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한파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주의보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(1) 한파주의보 발표 : 경상북도(군위. 안동. 영주. 의성. 청송. 영양평지. 봉화평지. 경북북동산지)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2023-01-01 10:00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경북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영주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한파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주의보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(1) 한파주의보 발표 : 경상북도(군위. 안동. 영주. 의성. 청송. 영양평지. 봉화평지. 경북북동산지)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2023-01-01 10:00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경북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의성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한파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주의보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(1) 한파주의보 발표 : 경상북도(군위. 안동. 영주. 의성. 청송. 영양평지. 봉화평지. 경북북동산지)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57" name="Google Shape;257;p6"/>
          <p:cNvSpPr txBox="1"/>
          <p:nvPr/>
        </p:nvSpPr>
        <p:spPr>
          <a:xfrm>
            <a:off x="398401" y="3009900"/>
            <a:ext cx="3086097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재난 문자/특보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-46853" y="-14311"/>
            <a:ext cx="1830705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263" name="Google Shape;263;p7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4" name="Google Shape;264;p7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265" name="Google Shape;265;p7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266" name="Google Shape;266;p7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 선별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269" name="Google Shape;269;p7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재난 안전 데이터 공유 플랫폼 API 활용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0" name="Google Shape;270;p7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71" name="Google Shape;271;p7"/>
          <p:cNvGraphicFramePr/>
          <p:nvPr/>
        </p:nvGraphicFramePr>
        <p:xfrm>
          <a:off x="352648" y="34546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{3B21871E-0802-4CDA-8723-84B3C599B62B}</a:tableStyleId>
              </a:tblPr>
              <a:tblGrid>
                <a:gridCol w="3207750"/>
                <a:gridCol w="5184000"/>
                <a:gridCol w="1800000"/>
                <a:gridCol w="1800000"/>
                <a:gridCol w="1395700"/>
                <a:gridCol w="1623725"/>
                <a:gridCol w="1262900"/>
                <a:gridCol w="12629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대피소명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주소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위도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경도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수용인원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지역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시도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시군구</a:t>
                      </a:r>
                      <a:endParaRPr sz="2000" u="none" cap="none" strike="noStrike"/>
                    </a:p>
                  </a:txBody>
                  <a:tcPr marT="45725" marB="45725" marR="91450" marL="914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노음초등학교 운동장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경상북도 울진군 근남면 노음6길 22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36.95847093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129.3921462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300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경상북도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경북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울진군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부경대수산과학연구소 공터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경상북도 포항시 북구 청하면 해안로 1889-9 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36.1705054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129.3960714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50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경상북도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경북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포항시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문무대왕 해양역사관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경상북도 경주시 감포읍 동해안로 1473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35.7449797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129.4837797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200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경상북도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경북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경주시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대본3리마을회관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경상북도 경주시 감포읍 동해안로 1497-1 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35.7461161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129.4848955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50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경상북도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경북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경주시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6400" marB="0" marR="6400" marL="6400" anchor="ctr"/>
                </a:tc>
              </a:tr>
            </a:tbl>
          </a:graphicData>
        </a:graphic>
      </p:graphicFrame>
      <p:sp>
        <p:nvSpPr>
          <p:cNvPr id="272" name="Google Shape;272;p7"/>
          <p:cNvSpPr txBox="1"/>
          <p:nvPr/>
        </p:nvSpPr>
        <p:spPr>
          <a:xfrm>
            <a:off x="398401" y="2720616"/>
            <a:ext cx="3086097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지진해일 대피소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3" name="Google Shape;273;p7"/>
          <p:cNvGraphicFramePr/>
          <p:nvPr/>
        </p:nvGraphicFramePr>
        <p:xfrm>
          <a:off x="375520" y="72143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{3B21871E-0802-4CDA-8723-84B3C599B62B}</a:tableStyleId>
              </a:tblPr>
              <a:tblGrid>
                <a:gridCol w="3512125"/>
                <a:gridCol w="5530925"/>
                <a:gridCol w="1777800"/>
                <a:gridCol w="1777800"/>
                <a:gridCol w="1777800"/>
                <a:gridCol w="1777800"/>
                <a:gridCol w="1382725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대피소명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주소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위도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경도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수용인원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시도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0000"/>
                          </a:solidFill>
                        </a:rPr>
                        <a:t>시군구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대중초등학교 운동장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경상남도 김해시 대동면 대동로 287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35.23626941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128.9493763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4317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경남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김해시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관천초등학교 운동장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대구광역시 북구 구암로22길 17(태전동)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35.930383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128.5517941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5200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대구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북구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동천고등학교 운동장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부산광역시 남구 못골번영로 105(대연동)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35.14438212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129.0874992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5876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부산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남구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오륙도초등학교 운동장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부산광역시 남구 오륙도로 57(용호동)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35.10375039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129.1162257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4036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부산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000000"/>
                          </a:solidFill>
                        </a:rPr>
                        <a:t>남구</a:t>
                      </a:r>
                      <a:endParaRPr b="0" i="0" sz="21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0250" marB="0" marR="10250" marL="10250" anchor="ctr"/>
                </a:tc>
              </a:tr>
            </a:tbl>
          </a:graphicData>
        </a:graphic>
      </p:graphicFrame>
      <p:sp>
        <p:nvSpPr>
          <p:cNvPr id="274" name="Google Shape;274;p7"/>
          <p:cNvSpPr txBox="1"/>
          <p:nvPr/>
        </p:nvSpPr>
        <p:spPr>
          <a:xfrm>
            <a:off x="398401" y="6461095"/>
            <a:ext cx="3086097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지진 대피소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"/>
          <p:cNvSpPr/>
          <p:nvPr/>
        </p:nvSpPr>
        <p:spPr>
          <a:xfrm>
            <a:off x="-46853" y="-14311"/>
            <a:ext cx="1830705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280" name="Google Shape;280;p8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1" name="Google Shape;281;p8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282" name="Google Shape;282;p8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283" name="Google Shape;283;p8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데이터 활용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8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285" name="Google Shape;285;p8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286" name="Google Shape;286;p8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지진해일 + 지진 대피소 취합 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7" name="Google Shape;287;p8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88" name="Google Shape;288;p8"/>
          <p:cNvGraphicFramePr/>
          <p:nvPr/>
        </p:nvGraphicFramePr>
        <p:xfrm>
          <a:off x="233995" y="4152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{5885D1E0-D0C7-46BD-8372-DBCEC0911285}</a:tableStyleId>
              </a:tblPr>
              <a:tblGrid>
                <a:gridCol w="2520000"/>
                <a:gridCol w="5400000"/>
                <a:gridCol w="2160000"/>
                <a:gridCol w="1260000"/>
                <a:gridCol w="1260000"/>
                <a:gridCol w="1260000"/>
                <a:gridCol w="1260000"/>
                <a:gridCol w="1440000"/>
                <a:gridCol w="1260000"/>
              </a:tblGrid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대피소명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주소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대피소유형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위도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경도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시도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시군구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지역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수용인원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반성초등학교 운동장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경상남도 진주시 일반성면 동부로 2060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지진옥외대피장소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35.16933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128.2858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경남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진주시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경남 진주시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4313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매호중학교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대구광역시 수성구 천을로 106(매호동)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지진옥외대피장소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35.8436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128.7017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대구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수성구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대구 수성구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6379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반동초등학교운동장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경상남도 창원시 마산합포구 구산면 해양관광로 1460-14 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지진옥외대피장소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35.08751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128.584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경남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창원시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경남 창원시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6576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밀주초등학교 운동장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경상남도 밀양시 가곡13길 24(가곡동)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지진옥외대피장소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35.47669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128.7625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경남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밀양시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경남 밀양시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5247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밀양초등학교 운동장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경상남도 밀양시 중앙로 282-12 (삼문동)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지진옥외대피장소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35.48863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128.7565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경남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밀양시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경남 밀양시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000000"/>
                          </a:solidFill>
                        </a:rPr>
                        <a:t>6266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/>
          <p:nvPr/>
        </p:nvSpPr>
        <p:spPr>
          <a:xfrm>
            <a:off x="-46853" y="-14311"/>
            <a:ext cx="1830705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294" name="Google Shape;294;p9"/>
          <p:cNvCxnSpPr/>
          <p:nvPr/>
        </p:nvCxnSpPr>
        <p:spPr>
          <a:xfrm rot="3600">
            <a:off x="-78703" y="2732187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5" name="Google Shape;295;p9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296" name="Google Shape;296;p9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297" name="Google Shape;297;p9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</a:t>
              </a:r>
              <a:r>
                <a:rPr lang="en-US" sz="6600"/>
                <a:t>연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9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299" name="Google Shape;299;p9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300" name="Google Shape;300;p9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대피 시뮬레이션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1" name="Google Shape;301;p9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2" name="Google Shape;3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198301"/>
            <a:ext cx="13908441" cy="671606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/>
          <p:nvPr/>
        </p:nvSpPr>
        <p:spPr>
          <a:xfrm>
            <a:off x="9590482" y="6017525"/>
            <a:ext cx="4038600" cy="3505200"/>
          </a:xfrm>
          <a:prstGeom prst="rect">
            <a:avLst/>
          </a:prstGeom>
          <a:noFill/>
          <a:ln cap="flat" cmpd="sng" w="76200">
            <a:solidFill>
              <a:srgbClr val="EB7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3646881" y="6093725"/>
            <a:ext cx="5359441" cy="32766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304800" y="6637763"/>
            <a:ext cx="2427683" cy="2351562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ㅓ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443723" y="4043919"/>
            <a:ext cx="10261559" cy="947181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4478000" y="3198301"/>
            <a:ext cx="3505200" cy="6716062"/>
          </a:xfrm>
          <a:prstGeom prst="roundRect">
            <a:avLst>
              <a:gd fmla="val 16667" name="adj"/>
            </a:avLst>
          </a:prstGeom>
          <a:solidFill>
            <a:srgbClr val="F5EEE3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4731964" y="4031508"/>
            <a:ext cx="2997272" cy="501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위치 및 재난 설정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해당 내용 확인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Noto Sans Symbols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지도로 현위치,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가까운 대피소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순으로 위치 파악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B7EEE"/>
              </a:buClr>
              <a:buSzPts val="2400"/>
              <a:buFont typeface="Noto Sans Symbols"/>
              <a:buChar char="●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대피소 정보 파악</a:t>
            </a:r>
            <a:endParaRPr/>
          </a:p>
        </p:txBody>
      </p:sp>
      <p:cxnSp>
        <p:nvCxnSpPr>
          <p:cNvPr id="309" name="Google Shape;309;p9"/>
          <p:cNvCxnSpPr/>
          <p:nvPr/>
        </p:nvCxnSpPr>
        <p:spPr>
          <a:xfrm>
            <a:off x="15011400" y="4686300"/>
            <a:ext cx="25908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9"/>
          <p:cNvCxnSpPr/>
          <p:nvPr/>
        </p:nvCxnSpPr>
        <p:spPr>
          <a:xfrm>
            <a:off x="15011400" y="5753100"/>
            <a:ext cx="2171700" cy="0"/>
          </a:xfrm>
          <a:prstGeom prst="straightConnector1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/>
          <p:nvPr/>
        </p:nvCxnSpPr>
        <p:spPr>
          <a:xfrm>
            <a:off x="15011400" y="6819900"/>
            <a:ext cx="2171700" cy="0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9"/>
          <p:cNvCxnSpPr/>
          <p:nvPr/>
        </p:nvCxnSpPr>
        <p:spPr>
          <a:xfrm>
            <a:off x="15011400" y="7353300"/>
            <a:ext cx="1866900" cy="0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9"/>
          <p:cNvCxnSpPr/>
          <p:nvPr/>
        </p:nvCxnSpPr>
        <p:spPr>
          <a:xfrm>
            <a:off x="15011400" y="8989325"/>
            <a:ext cx="2590800" cy="0"/>
          </a:xfrm>
          <a:prstGeom prst="straightConnector1">
            <a:avLst/>
          </a:prstGeom>
          <a:noFill/>
          <a:ln cap="flat" cmpd="sng" w="76200">
            <a:solidFill>
              <a:srgbClr val="EB7E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9"/>
          <p:cNvCxnSpPr/>
          <p:nvPr/>
        </p:nvCxnSpPr>
        <p:spPr>
          <a:xfrm>
            <a:off x="15011400" y="7886700"/>
            <a:ext cx="2324100" cy="0"/>
          </a:xfrm>
          <a:prstGeom prst="straightConnector1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"/>
          <p:cNvSpPr/>
          <p:nvPr/>
        </p:nvSpPr>
        <p:spPr>
          <a:xfrm>
            <a:off x="-46853" y="-14311"/>
            <a:ext cx="1830705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320" name="Google Shape;320;p10"/>
          <p:cNvCxnSpPr/>
          <p:nvPr/>
        </p:nvCxnSpPr>
        <p:spPr>
          <a:xfrm rot="3600">
            <a:off x="-78703" y="2732187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1" name="Google Shape;321;p10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322" name="Google Shape;322;p10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323" name="Google Shape;323;p10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</a:t>
              </a:r>
              <a:r>
                <a:rPr lang="en-US" sz="6600"/>
                <a:t>연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10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325" name="Google Shape;325;p10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326" name="Google Shape;326;p10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실시간 대피 안내 （재난 문자가 없는 경우）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7" name="Google Shape;327;p10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0"/>
          <p:cNvSpPr/>
          <p:nvPr/>
        </p:nvSpPr>
        <p:spPr>
          <a:xfrm rot="-3998967">
            <a:off x="6853412" y="2738420"/>
            <a:ext cx="731520" cy="1216152"/>
          </a:xfrm>
          <a:prstGeom prst="curvedLeftArrow">
            <a:avLst>
              <a:gd fmla="val 37517" name="adj1"/>
              <a:gd fmla="val 83125" name="adj2"/>
              <a:gd fmla="val 47773" name="adj3"/>
            </a:avLst>
          </a:prstGeom>
          <a:solidFill>
            <a:srgbClr val="62B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" name="Google Shape;329;p10"/>
          <p:cNvGrpSpPr/>
          <p:nvPr/>
        </p:nvGrpSpPr>
        <p:grpSpPr>
          <a:xfrm>
            <a:off x="6248400" y="4168858"/>
            <a:ext cx="11958343" cy="5990400"/>
            <a:chOff x="7274087" y="4622959"/>
            <a:chExt cx="10935214" cy="5477875"/>
          </a:xfrm>
        </p:grpSpPr>
        <p:pic>
          <p:nvPicPr>
            <p:cNvPr id="330" name="Google Shape;330;p10"/>
            <p:cNvPicPr preferRelativeResize="0"/>
            <p:nvPr/>
          </p:nvPicPr>
          <p:blipFill rotWithShape="1">
            <a:blip r:embed="rId4">
              <a:alphaModFix/>
            </a:blip>
            <a:srcRect b="0" l="188" r="0" t="0"/>
            <a:stretch/>
          </p:blipFill>
          <p:spPr>
            <a:xfrm>
              <a:off x="7274087" y="4622959"/>
              <a:ext cx="10935214" cy="547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10"/>
            <p:cNvSpPr/>
            <p:nvPr/>
          </p:nvSpPr>
          <p:spPr>
            <a:xfrm>
              <a:off x="9753600" y="6896100"/>
              <a:ext cx="4572000" cy="304800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14782800" y="6896100"/>
              <a:ext cx="3200400" cy="304800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7391400" y="6438900"/>
              <a:ext cx="1540806" cy="252000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10"/>
          <p:cNvGrpSpPr/>
          <p:nvPr/>
        </p:nvGrpSpPr>
        <p:grpSpPr>
          <a:xfrm>
            <a:off x="126608" y="5876021"/>
            <a:ext cx="3857902" cy="1557318"/>
            <a:chOff x="342900" y="6515100"/>
            <a:chExt cx="4152900" cy="1676400"/>
          </a:xfrm>
        </p:grpSpPr>
        <p:sp>
          <p:nvSpPr>
            <p:cNvPr id="335" name="Google Shape;335;p10"/>
            <p:cNvSpPr/>
            <p:nvPr/>
          </p:nvSpPr>
          <p:spPr>
            <a:xfrm>
              <a:off x="342900" y="6515100"/>
              <a:ext cx="4152900" cy="1676400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rgbClr val="F3EBDD"/>
            </a:solidFill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6" name="Google Shape;336;p10"/>
            <p:cNvPicPr preferRelativeResize="0"/>
            <p:nvPr/>
          </p:nvPicPr>
          <p:blipFill rotWithShape="1">
            <a:blip r:embed="rId5">
              <a:alphaModFix/>
            </a:blip>
            <a:srcRect b="1346" l="20797" r="77528" t="94762"/>
            <a:stretch/>
          </p:blipFill>
          <p:spPr>
            <a:xfrm>
              <a:off x="394465" y="7449127"/>
              <a:ext cx="537147" cy="629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10"/>
            <p:cNvSpPr txBox="1"/>
            <p:nvPr/>
          </p:nvSpPr>
          <p:spPr>
            <a:xfrm>
              <a:off x="804598" y="7461537"/>
              <a:ext cx="3553904" cy="364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실시간 재난문자를 확인하는 중．．</a:t>
              </a:r>
              <a:endParaRPr/>
            </a:p>
          </p:txBody>
        </p:sp>
      </p:grpSp>
      <p:pic>
        <p:nvPicPr>
          <p:cNvPr id="338" name="Google Shape;338;p10"/>
          <p:cNvPicPr preferRelativeResize="0"/>
          <p:nvPr/>
        </p:nvPicPr>
        <p:blipFill rotWithShape="1">
          <a:blip r:embed="rId5">
            <a:alphaModFix/>
          </a:blip>
          <a:srcRect b="0" l="0" r="3080" t="0"/>
          <a:stretch/>
        </p:blipFill>
        <p:spPr>
          <a:xfrm>
            <a:off x="126608" y="2765948"/>
            <a:ext cx="6121792" cy="306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0"/>
          <p:cNvSpPr/>
          <p:nvPr/>
        </p:nvSpPr>
        <p:spPr>
          <a:xfrm>
            <a:off x="1388997" y="5582886"/>
            <a:ext cx="1109736" cy="24469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"/>
          <p:cNvSpPr/>
          <p:nvPr/>
        </p:nvSpPr>
        <p:spPr>
          <a:xfrm>
            <a:off x="-46853" y="-14311"/>
            <a:ext cx="1830705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345" name="Google Shape;345;p11"/>
          <p:cNvCxnSpPr/>
          <p:nvPr/>
        </p:nvCxnSpPr>
        <p:spPr>
          <a:xfrm rot="3600">
            <a:off x="-78703" y="2732187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6" name="Google Shape;346;p11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347" name="Google Shape;347;p11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348" name="Google Shape;348;p11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</a:t>
              </a:r>
              <a:r>
                <a:rPr lang="en-US" sz="6600"/>
                <a:t>연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9" name="Google Shape;349;p11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0" name="Google Shape;350;p11"/>
          <p:cNvPicPr preferRelativeResize="0"/>
          <p:nvPr/>
        </p:nvPicPr>
        <p:blipFill rotWithShape="1">
          <a:blip r:embed="rId4">
            <a:alphaModFix/>
          </a:blip>
          <a:srcRect b="0" l="0" r="3080" t="0"/>
          <a:stretch/>
        </p:blipFill>
        <p:spPr>
          <a:xfrm>
            <a:off x="126608" y="2765948"/>
            <a:ext cx="6121792" cy="306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1"/>
          <p:cNvPicPr preferRelativeResize="0"/>
          <p:nvPr/>
        </p:nvPicPr>
        <p:blipFill rotWithShape="1">
          <a:blip r:embed="rId5">
            <a:alphaModFix/>
          </a:blip>
          <a:srcRect b="0" l="0" r="1895" t="0"/>
          <a:stretch/>
        </p:blipFill>
        <p:spPr>
          <a:xfrm>
            <a:off x="6248400" y="4181231"/>
            <a:ext cx="11979002" cy="5991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2" name="Google Shape;352;p11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353" name="Google Shape;353;p11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354" name="Google Shape;354;p11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실시간 대피 안내 （재난 문자 발생한 경우_위치 “자동＂）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5" name="Google Shape;355;p11"/>
          <p:cNvSpPr/>
          <p:nvPr/>
        </p:nvSpPr>
        <p:spPr>
          <a:xfrm rot="-3998967">
            <a:off x="6853412" y="2738420"/>
            <a:ext cx="731520" cy="1216152"/>
          </a:xfrm>
          <a:prstGeom prst="curvedLeftArrow">
            <a:avLst>
              <a:gd fmla="val 37517" name="adj1"/>
              <a:gd fmla="val 83125" name="adj2"/>
              <a:gd fmla="val 47773" name="adj3"/>
            </a:avLst>
          </a:prstGeom>
          <a:solidFill>
            <a:srgbClr val="62B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11"/>
          <p:cNvGrpSpPr/>
          <p:nvPr/>
        </p:nvGrpSpPr>
        <p:grpSpPr>
          <a:xfrm>
            <a:off x="126608" y="5876021"/>
            <a:ext cx="3857902" cy="1557318"/>
            <a:chOff x="342900" y="6515100"/>
            <a:chExt cx="4152900" cy="1676400"/>
          </a:xfrm>
        </p:grpSpPr>
        <p:sp>
          <p:nvSpPr>
            <p:cNvPr id="357" name="Google Shape;357;p11"/>
            <p:cNvSpPr/>
            <p:nvPr/>
          </p:nvSpPr>
          <p:spPr>
            <a:xfrm>
              <a:off x="342900" y="6515100"/>
              <a:ext cx="4152900" cy="1676400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rgbClr val="F3EBDD"/>
            </a:solidFill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8" name="Google Shape;358;p11"/>
            <p:cNvPicPr preferRelativeResize="0"/>
            <p:nvPr/>
          </p:nvPicPr>
          <p:blipFill rotWithShape="1">
            <a:blip r:embed="rId4">
              <a:alphaModFix/>
            </a:blip>
            <a:srcRect b="1346" l="20797" r="77528" t="94762"/>
            <a:stretch/>
          </p:blipFill>
          <p:spPr>
            <a:xfrm>
              <a:off x="394465" y="7449127"/>
              <a:ext cx="537147" cy="629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11"/>
            <p:cNvSpPr txBox="1"/>
            <p:nvPr/>
          </p:nvSpPr>
          <p:spPr>
            <a:xfrm>
              <a:off x="804598" y="7461537"/>
              <a:ext cx="3553904" cy="364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실시간 재난문자를 확인하는 중．．</a:t>
              </a:r>
              <a:endParaRPr/>
            </a:p>
          </p:txBody>
        </p:sp>
      </p:grpSp>
      <p:sp>
        <p:nvSpPr>
          <p:cNvPr id="360" name="Google Shape;360;p11"/>
          <p:cNvSpPr/>
          <p:nvPr/>
        </p:nvSpPr>
        <p:spPr>
          <a:xfrm>
            <a:off x="1388997" y="5582886"/>
            <a:ext cx="1109736" cy="24469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"/>
          <p:cNvSpPr/>
          <p:nvPr/>
        </p:nvSpPr>
        <p:spPr>
          <a:xfrm>
            <a:off x="-46853" y="-14311"/>
            <a:ext cx="1830705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366" name="Google Shape;366;p12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367" name="Google Shape;367;p12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368" name="Google Shape;368;p12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</a:t>
              </a:r>
              <a:r>
                <a:rPr lang="en-US" sz="6600"/>
                <a:t>연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9" name="Google Shape;369;p12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0" name="Google Shape;370;p12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371" name="Google Shape;371;p12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372" name="Google Shape;372;p12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실시간 대피 안내 （재난 문자 발생한 경우_위치 “수동”）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3" name="Google Shape;37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3919" y="3238500"/>
            <a:ext cx="14460163" cy="64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2"/>
          <p:cNvSpPr/>
          <p:nvPr/>
        </p:nvSpPr>
        <p:spPr>
          <a:xfrm>
            <a:off x="1905000" y="6591300"/>
            <a:ext cx="2286000" cy="2351562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380" name="Google Shape;380;p13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>
                <a:alpha val="44705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1" name="Google Shape;381;p13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382" name="Google Shape;382;p13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383" name="Google Shape;383;p13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초기 구현</a:t>
              </a:r>
              <a:endParaRPr/>
            </a:p>
          </p:txBody>
        </p:sp>
      </p:grpSp>
      <p:grpSp>
        <p:nvGrpSpPr>
          <p:cNvPr id="384" name="Google Shape;384;p13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385" name="Google Shape;385;p13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386" name="Google Shape;386;p13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과거 데이터 기반 시스템 구축 프로세스</a:t>
              </a:r>
              <a:endParaRPr/>
            </a:p>
          </p:txBody>
        </p:sp>
      </p:grpSp>
      <p:cxnSp>
        <p:nvCxnSpPr>
          <p:cNvPr id="387" name="Google Shape;387;p13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3"/>
          <p:cNvSpPr/>
          <p:nvPr/>
        </p:nvSpPr>
        <p:spPr>
          <a:xfrm>
            <a:off x="1602087" y="5660536"/>
            <a:ext cx="15428613" cy="895006"/>
          </a:xfrm>
          <a:custGeom>
            <a:rect b="b" l="l" r="r" t="t"/>
            <a:pathLst>
              <a:path extrusionOk="0" h="895006" w="15428613">
                <a:moveTo>
                  <a:pt x="0" y="0"/>
                </a:moveTo>
                <a:lnTo>
                  <a:pt x="15428613" y="0"/>
                </a:lnTo>
                <a:lnTo>
                  <a:pt x="15428613" y="895006"/>
                </a:lnTo>
                <a:lnTo>
                  <a:pt x="0" y="895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102" l="0" r="0" t="-7102"/>
            </a:stretch>
          </a:blipFill>
          <a:ln>
            <a:noFill/>
          </a:ln>
        </p:spPr>
      </p:sp>
      <p:grpSp>
        <p:nvGrpSpPr>
          <p:cNvPr id="389" name="Google Shape;389;p13"/>
          <p:cNvGrpSpPr/>
          <p:nvPr/>
        </p:nvGrpSpPr>
        <p:grpSpPr>
          <a:xfrm>
            <a:off x="14478000" y="3273080"/>
            <a:ext cx="3660220" cy="2336354"/>
            <a:chOff x="0" y="-9525"/>
            <a:chExt cx="964008" cy="615336"/>
          </a:xfrm>
        </p:grpSpPr>
        <p:sp>
          <p:nvSpPr>
            <p:cNvPr id="390" name="Google Shape;390;p13"/>
            <p:cNvSpPr/>
            <p:nvPr/>
          </p:nvSpPr>
          <p:spPr>
            <a:xfrm>
              <a:off x="0" y="0"/>
              <a:ext cx="964008" cy="605811"/>
            </a:xfrm>
            <a:custGeom>
              <a:rect b="b" l="l" r="r" t="t"/>
              <a:pathLst>
                <a:path extrusionOk="0" h="605811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497938"/>
                  </a:lnTo>
                  <a:cubicBezTo>
                    <a:pt x="964008" y="526548"/>
                    <a:pt x="952642" y="553986"/>
                    <a:pt x="932412" y="574216"/>
                  </a:cubicBezTo>
                  <a:cubicBezTo>
                    <a:pt x="912182" y="594446"/>
                    <a:pt x="884744" y="605811"/>
                    <a:pt x="856135" y="605811"/>
                  </a:cubicBezTo>
                  <a:lnTo>
                    <a:pt x="107873" y="605811"/>
                  </a:lnTo>
                  <a:cubicBezTo>
                    <a:pt x="79263" y="605811"/>
                    <a:pt x="51825" y="594446"/>
                    <a:pt x="31595" y="574216"/>
                  </a:cubicBezTo>
                  <a:cubicBezTo>
                    <a:pt x="11365" y="553986"/>
                    <a:pt x="0" y="526548"/>
                    <a:pt x="0" y="497938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62B2FA">
                <a:alpha val="3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3"/>
            <p:cNvSpPr txBox="1"/>
            <p:nvPr/>
          </p:nvSpPr>
          <p:spPr>
            <a:xfrm>
              <a:off x="0" y="-9525"/>
              <a:ext cx="964007" cy="615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" name="Google Shape;392;p13"/>
          <p:cNvGrpSpPr/>
          <p:nvPr/>
        </p:nvGrpSpPr>
        <p:grpSpPr>
          <a:xfrm>
            <a:off x="242580" y="3273080"/>
            <a:ext cx="3660220" cy="2336354"/>
            <a:chOff x="0" y="-9525"/>
            <a:chExt cx="964008" cy="615336"/>
          </a:xfrm>
        </p:grpSpPr>
        <p:sp>
          <p:nvSpPr>
            <p:cNvPr id="393" name="Google Shape;393;p13"/>
            <p:cNvSpPr/>
            <p:nvPr/>
          </p:nvSpPr>
          <p:spPr>
            <a:xfrm>
              <a:off x="0" y="0"/>
              <a:ext cx="964008" cy="605811"/>
            </a:xfrm>
            <a:custGeom>
              <a:rect b="b" l="l" r="r" t="t"/>
              <a:pathLst>
                <a:path extrusionOk="0" h="605811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497938"/>
                  </a:lnTo>
                  <a:cubicBezTo>
                    <a:pt x="964008" y="526548"/>
                    <a:pt x="952642" y="553986"/>
                    <a:pt x="932412" y="574216"/>
                  </a:cubicBezTo>
                  <a:cubicBezTo>
                    <a:pt x="912182" y="594446"/>
                    <a:pt x="884744" y="605811"/>
                    <a:pt x="856135" y="605811"/>
                  </a:cubicBezTo>
                  <a:lnTo>
                    <a:pt x="107873" y="605811"/>
                  </a:lnTo>
                  <a:cubicBezTo>
                    <a:pt x="79263" y="605811"/>
                    <a:pt x="51825" y="594446"/>
                    <a:pt x="31595" y="574216"/>
                  </a:cubicBezTo>
                  <a:cubicBezTo>
                    <a:pt x="11365" y="553986"/>
                    <a:pt x="0" y="526548"/>
                    <a:pt x="0" y="497938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62B2FA">
                <a:alpha val="3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3"/>
            <p:cNvSpPr txBox="1"/>
            <p:nvPr/>
          </p:nvSpPr>
          <p:spPr>
            <a:xfrm>
              <a:off x="0" y="-9525"/>
              <a:ext cx="964007" cy="615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13"/>
          <p:cNvGrpSpPr/>
          <p:nvPr/>
        </p:nvGrpSpPr>
        <p:grpSpPr>
          <a:xfrm>
            <a:off x="7498033" y="3273080"/>
            <a:ext cx="3660220" cy="2336354"/>
            <a:chOff x="0" y="-9525"/>
            <a:chExt cx="964008" cy="615336"/>
          </a:xfrm>
        </p:grpSpPr>
        <p:sp>
          <p:nvSpPr>
            <p:cNvPr id="396" name="Google Shape;396;p13"/>
            <p:cNvSpPr/>
            <p:nvPr/>
          </p:nvSpPr>
          <p:spPr>
            <a:xfrm>
              <a:off x="0" y="0"/>
              <a:ext cx="964008" cy="605811"/>
            </a:xfrm>
            <a:custGeom>
              <a:rect b="b" l="l" r="r" t="t"/>
              <a:pathLst>
                <a:path extrusionOk="0" h="605811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497938"/>
                  </a:lnTo>
                  <a:cubicBezTo>
                    <a:pt x="964008" y="526548"/>
                    <a:pt x="952642" y="553986"/>
                    <a:pt x="932412" y="574216"/>
                  </a:cubicBezTo>
                  <a:cubicBezTo>
                    <a:pt x="912182" y="594446"/>
                    <a:pt x="884744" y="605811"/>
                    <a:pt x="856135" y="605811"/>
                  </a:cubicBezTo>
                  <a:lnTo>
                    <a:pt x="107873" y="605811"/>
                  </a:lnTo>
                  <a:cubicBezTo>
                    <a:pt x="79263" y="605811"/>
                    <a:pt x="51825" y="594446"/>
                    <a:pt x="31595" y="574216"/>
                  </a:cubicBezTo>
                  <a:cubicBezTo>
                    <a:pt x="11365" y="553986"/>
                    <a:pt x="0" y="526548"/>
                    <a:pt x="0" y="497938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62B2FA">
                <a:alpha val="3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3"/>
            <p:cNvSpPr txBox="1"/>
            <p:nvPr/>
          </p:nvSpPr>
          <p:spPr>
            <a:xfrm>
              <a:off x="0" y="-9525"/>
              <a:ext cx="964007" cy="615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13"/>
          <p:cNvGrpSpPr/>
          <p:nvPr/>
        </p:nvGrpSpPr>
        <p:grpSpPr>
          <a:xfrm>
            <a:off x="3885187" y="6519377"/>
            <a:ext cx="3660220" cy="2336354"/>
            <a:chOff x="0" y="-9525"/>
            <a:chExt cx="964008" cy="615336"/>
          </a:xfrm>
        </p:grpSpPr>
        <p:sp>
          <p:nvSpPr>
            <p:cNvPr id="399" name="Google Shape;399;p13"/>
            <p:cNvSpPr/>
            <p:nvPr/>
          </p:nvSpPr>
          <p:spPr>
            <a:xfrm>
              <a:off x="0" y="0"/>
              <a:ext cx="964008" cy="605811"/>
            </a:xfrm>
            <a:custGeom>
              <a:rect b="b" l="l" r="r" t="t"/>
              <a:pathLst>
                <a:path extrusionOk="0" h="605811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497938"/>
                  </a:lnTo>
                  <a:cubicBezTo>
                    <a:pt x="964008" y="526548"/>
                    <a:pt x="952642" y="553986"/>
                    <a:pt x="932412" y="574216"/>
                  </a:cubicBezTo>
                  <a:cubicBezTo>
                    <a:pt x="912182" y="594446"/>
                    <a:pt x="884744" y="605811"/>
                    <a:pt x="856135" y="605811"/>
                  </a:cubicBezTo>
                  <a:lnTo>
                    <a:pt x="107873" y="605811"/>
                  </a:lnTo>
                  <a:cubicBezTo>
                    <a:pt x="79263" y="605811"/>
                    <a:pt x="51825" y="594446"/>
                    <a:pt x="31595" y="574216"/>
                  </a:cubicBezTo>
                  <a:cubicBezTo>
                    <a:pt x="11365" y="553986"/>
                    <a:pt x="0" y="526548"/>
                    <a:pt x="0" y="497938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62B2FA">
                <a:alpha val="3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3"/>
            <p:cNvSpPr txBox="1"/>
            <p:nvPr/>
          </p:nvSpPr>
          <p:spPr>
            <a:xfrm>
              <a:off x="0" y="-9525"/>
              <a:ext cx="964007" cy="615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3"/>
          <p:cNvGrpSpPr/>
          <p:nvPr/>
        </p:nvGrpSpPr>
        <p:grpSpPr>
          <a:xfrm>
            <a:off x="11177634" y="6491146"/>
            <a:ext cx="3660220" cy="2336354"/>
            <a:chOff x="0" y="-9525"/>
            <a:chExt cx="964008" cy="615336"/>
          </a:xfrm>
        </p:grpSpPr>
        <p:sp>
          <p:nvSpPr>
            <p:cNvPr id="402" name="Google Shape;402;p13"/>
            <p:cNvSpPr/>
            <p:nvPr/>
          </p:nvSpPr>
          <p:spPr>
            <a:xfrm>
              <a:off x="0" y="0"/>
              <a:ext cx="964008" cy="605811"/>
            </a:xfrm>
            <a:custGeom>
              <a:rect b="b" l="l" r="r" t="t"/>
              <a:pathLst>
                <a:path extrusionOk="0" h="605811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497938"/>
                  </a:lnTo>
                  <a:cubicBezTo>
                    <a:pt x="964008" y="526548"/>
                    <a:pt x="952642" y="553986"/>
                    <a:pt x="932412" y="574216"/>
                  </a:cubicBezTo>
                  <a:cubicBezTo>
                    <a:pt x="912182" y="594446"/>
                    <a:pt x="884744" y="605811"/>
                    <a:pt x="856135" y="605811"/>
                  </a:cubicBezTo>
                  <a:lnTo>
                    <a:pt x="107873" y="605811"/>
                  </a:lnTo>
                  <a:cubicBezTo>
                    <a:pt x="79263" y="605811"/>
                    <a:pt x="51825" y="594446"/>
                    <a:pt x="31595" y="574216"/>
                  </a:cubicBezTo>
                  <a:cubicBezTo>
                    <a:pt x="11365" y="553986"/>
                    <a:pt x="0" y="526548"/>
                    <a:pt x="0" y="497938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62B2FA">
                <a:alpha val="3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3"/>
            <p:cNvSpPr txBox="1"/>
            <p:nvPr/>
          </p:nvSpPr>
          <p:spPr>
            <a:xfrm>
              <a:off x="0" y="-9525"/>
              <a:ext cx="964007" cy="615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13"/>
          <p:cNvSpPr txBox="1"/>
          <p:nvPr/>
        </p:nvSpPr>
        <p:spPr>
          <a:xfrm>
            <a:off x="885389" y="3530052"/>
            <a:ext cx="23569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endParaRPr/>
          </a:p>
        </p:txBody>
      </p:sp>
      <p:sp>
        <p:nvSpPr>
          <p:cNvPr id="405" name="Google Shape;405;p13"/>
          <p:cNvSpPr txBox="1"/>
          <p:nvPr/>
        </p:nvSpPr>
        <p:spPr>
          <a:xfrm>
            <a:off x="242580" y="4296472"/>
            <a:ext cx="364260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과거 재난 이력 수집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(재난 API 공공데이터 활용)</a:t>
            </a:r>
            <a:endParaRPr/>
          </a:p>
        </p:txBody>
      </p:sp>
      <p:sp>
        <p:nvSpPr>
          <p:cNvPr id="406" name="Google Shape;406;p13"/>
          <p:cNvSpPr txBox="1"/>
          <p:nvPr/>
        </p:nvSpPr>
        <p:spPr>
          <a:xfrm>
            <a:off x="8149646" y="3530052"/>
            <a:ext cx="23569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/>
          </a:p>
        </p:txBody>
      </p:sp>
      <p:sp>
        <p:nvSpPr>
          <p:cNvPr id="407" name="Google Shape;407;p13"/>
          <p:cNvSpPr txBox="1"/>
          <p:nvPr/>
        </p:nvSpPr>
        <p:spPr>
          <a:xfrm>
            <a:off x="7310019" y="4296472"/>
            <a:ext cx="4012749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분석에 적합하도록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데이터를 정리하고 재구성</a:t>
            </a:r>
            <a:endParaRPr/>
          </a:p>
        </p:txBody>
      </p:sp>
      <p:sp>
        <p:nvSpPr>
          <p:cNvPr id="408" name="Google Shape;408;p13"/>
          <p:cNvSpPr txBox="1"/>
          <p:nvPr/>
        </p:nvSpPr>
        <p:spPr>
          <a:xfrm>
            <a:off x="15147937" y="3530052"/>
            <a:ext cx="23569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시스템 설계</a:t>
            </a:r>
            <a:endParaRPr/>
          </a:p>
        </p:txBody>
      </p:sp>
      <p:sp>
        <p:nvSpPr>
          <p:cNvPr id="409" name="Google Shape;409;p13"/>
          <p:cNvSpPr txBox="1"/>
          <p:nvPr/>
        </p:nvSpPr>
        <p:spPr>
          <a:xfrm>
            <a:off x="14478000" y="4296472"/>
            <a:ext cx="3642608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시스템의 기본 설계</a:t>
            </a:r>
            <a:endParaRPr sz="2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및 전체 아키텍처 완성</a:t>
            </a:r>
            <a:endParaRPr sz="2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4536801" y="6865105"/>
            <a:ext cx="23569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구조 파악</a:t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11829247" y="6865105"/>
            <a:ext cx="23569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로직 구현</a:t>
            </a:r>
            <a:endParaRPr/>
          </a:p>
        </p:txBody>
      </p:sp>
      <p:sp>
        <p:nvSpPr>
          <p:cNvPr id="412" name="Google Shape;412;p13"/>
          <p:cNvSpPr txBox="1"/>
          <p:nvPr/>
        </p:nvSpPr>
        <p:spPr>
          <a:xfrm>
            <a:off x="3604994" y="7593767"/>
            <a:ext cx="4220604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대피소 정보 파악 및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필요 시스템 구조 정의</a:t>
            </a:r>
            <a:endParaRPr/>
          </a:p>
        </p:txBody>
      </p:sp>
      <p:sp>
        <p:nvSpPr>
          <p:cNvPr id="413" name="Google Shape;413;p13"/>
          <p:cNvSpPr txBox="1"/>
          <p:nvPr/>
        </p:nvSpPr>
        <p:spPr>
          <a:xfrm>
            <a:off x="10592954" y="7422317"/>
            <a:ext cx="4829575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과거 데이터 기반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맞춤 대피소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연결 로직 구현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419" name="Google Shape;419;p14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0" name="Google Shape;420;p14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421" name="Google Shape;421;p14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422" name="Google Shape;422;p14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구현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14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424" name="Google Shape;424;p14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425" name="Google Shape;425;p14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ORM 구성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6" name="Google Shape;426;p14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7" name="Google Shape;4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697" y="2933700"/>
            <a:ext cx="7696200" cy="717942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4"/>
          <p:cNvSpPr/>
          <p:nvPr/>
        </p:nvSpPr>
        <p:spPr>
          <a:xfrm>
            <a:off x="9296400" y="2933700"/>
            <a:ext cx="8077200" cy="7179429"/>
          </a:xfrm>
          <a:prstGeom prst="roundRect">
            <a:avLst>
              <a:gd fmla="val 5641" name="adj"/>
            </a:avLst>
          </a:prstGeom>
          <a:solidFill>
            <a:srgbClr val="E1F4FF"/>
          </a:solidFill>
          <a:ln cap="flat" cmpd="sng" w="12700">
            <a:solidFill>
              <a:srgbClr val="62B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9448800" y="3617059"/>
            <a:ext cx="77724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Danger_alerts  </a:t>
            </a:r>
            <a:r>
              <a:rPr b="1"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Regions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regions_id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Regions </a:t>
            </a:r>
            <a:r>
              <a:rPr b="1"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↔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Shelters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regions_id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Shelters</a:t>
            </a:r>
            <a:r>
              <a:rPr b="1"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↔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Shelter_disaster_relations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shelter_id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Shelter_disaster_relations </a:t>
            </a:r>
            <a:r>
              <a:rPr b="1"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Disaster_types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disaster_type_id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Disaster_types </a:t>
            </a:r>
            <a:r>
              <a:rPr b="1"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Danger_alerts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disaster_type_id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4"/>
          <p:cNvCxnSpPr/>
          <p:nvPr/>
        </p:nvCxnSpPr>
        <p:spPr>
          <a:xfrm>
            <a:off x="9601200" y="3537585"/>
            <a:ext cx="2590800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1" name="Google Shape;431;p14"/>
          <p:cNvGrpSpPr/>
          <p:nvPr/>
        </p:nvGrpSpPr>
        <p:grpSpPr>
          <a:xfrm>
            <a:off x="9601201" y="2868713"/>
            <a:ext cx="4114800" cy="748351"/>
            <a:chOff x="0" y="0"/>
            <a:chExt cx="21031200" cy="997800"/>
          </a:xfrm>
        </p:grpSpPr>
        <p:sp>
          <p:nvSpPr>
            <p:cNvPr id="432" name="Google Shape;432;p14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433" name="Google Shape;433;p14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테이블 간의 관계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439" name="Google Shape;439;p15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15"/>
          <p:cNvSpPr/>
          <p:nvPr/>
        </p:nvSpPr>
        <p:spPr>
          <a:xfrm>
            <a:off x="1215095" y="3007662"/>
            <a:ext cx="7873079" cy="6659337"/>
          </a:xfrm>
          <a:custGeom>
            <a:rect b="b" l="l" r="r" t="t"/>
            <a:pathLst>
              <a:path extrusionOk="0" h="6659337" w="7873079">
                <a:moveTo>
                  <a:pt x="0" y="0"/>
                </a:moveTo>
                <a:lnTo>
                  <a:pt x="7873079" y="0"/>
                </a:lnTo>
                <a:lnTo>
                  <a:pt x="7873079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62B2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1" name="Google Shape;441;p15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442" name="Google Shape;442;p15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443" name="Google Shape;443;p15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한계점과 개선사항</a:t>
              </a:r>
              <a:endParaRPr/>
            </a:p>
          </p:txBody>
        </p:sp>
      </p:grpSp>
      <p:grpSp>
        <p:nvGrpSpPr>
          <p:cNvPr id="444" name="Google Shape;444;p15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445" name="Google Shape;445;p15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446" name="Google Shape;446;p15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데이터 측면의 한계점과 개선</a:t>
              </a:r>
              <a:endParaRPr/>
            </a:p>
          </p:txBody>
        </p:sp>
      </p:grpSp>
      <p:cxnSp>
        <p:nvCxnSpPr>
          <p:cNvPr id="447" name="Google Shape;447;p15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8" name="Google Shape;448;p15"/>
          <p:cNvGrpSpPr/>
          <p:nvPr/>
        </p:nvGrpSpPr>
        <p:grpSpPr>
          <a:xfrm>
            <a:off x="1233488" y="3315176"/>
            <a:ext cx="7835550" cy="1296448"/>
            <a:chOff x="0" y="0"/>
            <a:chExt cx="10447401" cy="1728597"/>
          </a:xfrm>
        </p:grpSpPr>
        <p:sp>
          <p:nvSpPr>
            <p:cNvPr id="449" name="Google Shape;449;p15"/>
            <p:cNvSpPr/>
            <p:nvPr/>
          </p:nvSpPr>
          <p:spPr>
            <a:xfrm>
              <a:off x="12700" y="12700"/>
              <a:ext cx="10422001" cy="1703197"/>
            </a:xfrm>
            <a:custGeom>
              <a:rect b="b" l="l" r="r" t="t"/>
              <a:pathLst>
                <a:path extrusionOk="0" h="1703197" w="10422001">
                  <a:moveTo>
                    <a:pt x="0" y="0"/>
                  </a:moveTo>
                  <a:lnTo>
                    <a:pt x="10422001" y="0"/>
                  </a:lnTo>
                  <a:lnTo>
                    <a:pt x="10422001" y="1703197"/>
                  </a:lnTo>
                  <a:lnTo>
                    <a:pt x="0" y="1703197"/>
                  </a:lnTo>
                  <a:close/>
                </a:path>
              </a:pathLst>
            </a:custGeom>
            <a:solidFill>
              <a:srgbClr val="E1F4FF"/>
            </a:solidFill>
            <a:ln cap="flat" cmpd="sng" w="9525">
              <a:solidFill>
                <a:srgbClr val="E1F4FF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50" name="Google Shape;450;p15"/>
            <p:cNvSpPr/>
            <p:nvPr/>
          </p:nvSpPr>
          <p:spPr>
            <a:xfrm>
              <a:off x="0" y="0"/>
              <a:ext cx="10447401" cy="1728597"/>
            </a:xfrm>
            <a:custGeom>
              <a:rect b="b" l="l" r="r" t="t"/>
              <a:pathLst>
                <a:path extrusionOk="0" h="1728597" w="10447401">
                  <a:moveTo>
                    <a:pt x="12700" y="0"/>
                  </a:moveTo>
                  <a:lnTo>
                    <a:pt x="10434701" y="0"/>
                  </a:lnTo>
                  <a:cubicBezTo>
                    <a:pt x="10441686" y="0"/>
                    <a:pt x="10447401" y="5715"/>
                    <a:pt x="10447401" y="12700"/>
                  </a:cubicBezTo>
                  <a:lnTo>
                    <a:pt x="10447401" y="1715897"/>
                  </a:lnTo>
                  <a:cubicBezTo>
                    <a:pt x="10447401" y="1722882"/>
                    <a:pt x="10441686" y="1728597"/>
                    <a:pt x="10434701" y="1728597"/>
                  </a:cubicBezTo>
                  <a:lnTo>
                    <a:pt x="12700" y="1728597"/>
                  </a:lnTo>
                  <a:cubicBezTo>
                    <a:pt x="5715" y="1728597"/>
                    <a:pt x="0" y="1722882"/>
                    <a:pt x="0" y="171589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15897"/>
                  </a:lnTo>
                  <a:lnTo>
                    <a:pt x="12700" y="1715897"/>
                  </a:lnTo>
                  <a:lnTo>
                    <a:pt x="12700" y="1703197"/>
                  </a:lnTo>
                  <a:lnTo>
                    <a:pt x="10434701" y="1703197"/>
                  </a:lnTo>
                  <a:lnTo>
                    <a:pt x="10434701" y="1715897"/>
                  </a:lnTo>
                  <a:lnTo>
                    <a:pt x="10422001" y="1715897"/>
                  </a:lnTo>
                  <a:lnTo>
                    <a:pt x="10422001" y="12700"/>
                  </a:lnTo>
                  <a:lnTo>
                    <a:pt x="10434701" y="12700"/>
                  </a:lnTo>
                  <a:lnTo>
                    <a:pt x="1043470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2B2FA"/>
            </a:solidFill>
            <a:ln cap="flat" cmpd="sng" w="9525">
              <a:solidFill>
                <a:srgbClr val="E1F4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1" name="Google Shape;451;p15"/>
          <p:cNvSpPr txBox="1"/>
          <p:nvPr/>
        </p:nvSpPr>
        <p:spPr>
          <a:xfrm>
            <a:off x="1215095" y="3563360"/>
            <a:ext cx="781169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한계점</a:t>
            </a:r>
            <a:endParaRPr sz="5000">
              <a:solidFill>
                <a:srgbClr val="4472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9199826" y="3007662"/>
            <a:ext cx="7873079" cy="6659337"/>
          </a:xfrm>
          <a:custGeom>
            <a:rect b="b" l="l" r="r" t="t"/>
            <a:pathLst>
              <a:path extrusionOk="0" h="6659337" w="7873079">
                <a:moveTo>
                  <a:pt x="0" y="0"/>
                </a:moveTo>
                <a:lnTo>
                  <a:pt x="7873079" y="0"/>
                </a:lnTo>
                <a:lnTo>
                  <a:pt x="7873079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3" name="Google Shape;453;p15"/>
          <p:cNvGrpSpPr/>
          <p:nvPr/>
        </p:nvGrpSpPr>
        <p:grpSpPr>
          <a:xfrm>
            <a:off x="9218228" y="3315176"/>
            <a:ext cx="7835550" cy="1296448"/>
            <a:chOff x="0" y="0"/>
            <a:chExt cx="10447401" cy="1728597"/>
          </a:xfrm>
        </p:grpSpPr>
        <p:sp>
          <p:nvSpPr>
            <p:cNvPr id="454" name="Google Shape;454;p15"/>
            <p:cNvSpPr/>
            <p:nvPr/>
          </p:nvSpPr>
          <p:spPr>
            <a:xfrm>
              <a:off x="12700" y="12700"/>
              <a:ext cx="10422001" cy="1703197"/>
            </a:xfrm>
            <a:custGeom>
              <a:rect b="b" l="l" r="r" t="t"/>
              <a:pathLst>
                <a:path extrusionOk="0" h="1703197" w="10422001">
                  <a:moveTo>
                    <a:pt x="0" y="0"/>
                  </a:moveTo>
                  <a:lnTo>
                    <a:pt x="10422001" y="0"/>
                  </a:lnTo>
                  <a:lnTo>
                    <a:pt x="10422001" y="1703197"/>
                  </a:lnTo>
                  <a:lnTo>
                    <a:pt x="0" y="1703197"/>
                  </a:lnTo>
                  <a:close/>
                </a:path>
              </a:pathLst>
            </a:custGeom>
            <a:solidFill>
              <a:srgbClr val="FFF3FE"/>
            </a:solidFill>
            <a:ln>
              <a:noFill/>
            </a:ln>
          </p:spPr>
        </p:sp>
        <p:sp>
          <p:nvSpPr>
            <p:cNvPr id="455" name="Google Shape;455;p15"/>
            <p:cNvSpPr/>
            <p:nvPr/>
          </p:nvSpPr>
          <p:spPr>
            <a:xfrm>
              <a:off x="0" y="0"/>
              <a:ext cx="10447401" cy="1728597"/>
            </a:xfrm>
            <a:custGeom>
              <a:rect b="b" l="l" r="r" t="t"/>
              <a:pathLst>
                <a:path extrusionOk="0" h="1728597" w="10447401">
                  <a:moveTo>
                    <a:pt x="12700" y="0"/>
                  </a:moveTo>
                  <a:lnTo>
                    <a:pt x="10434701" y="0"/>
                  </a:lnTo>
                  <a:cubicBezTo>
                    <a:pt x="10441686" y="0"/>
                    <a:pt x="10447401" y="5715"/>
                    <a:pt x="10447401" y="12700"/>
                  </a:cubicBezTo>
                  <a:lnTo>
                    <a:pt x="10447401" y="1715897"/>
                  </a:lnTo>
                  <a:cubicBezTo>
                    <a:pt x="10447401" y="1722882"/>
                    <a:pt x="10441686" y="1728597"/>
                    <a:pt x="10434701" y="1728597"/>
                  </a:cubicBezTo>
                  <a:lnTo>
                    <a:pt x="12700" y="1728597"/>
                  </a:lnTo>
                  <a:cubicBezTo>
                    <a:pt x="5715" y="1728597"/>
                    <a:pt x="0" y="1722882"/>
                    <a:pt x="0" y="171589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15897"/>
                  </a:lnTo>
                  <a:lnTo>
                    <a:pt x="12700" y="1715897"/>
                  </a:lnTo>
                  <a:lnTo>
                    <a:pt x="12700" y="1703197"/>
                  </a:lnTo>
                  <a:lnTo>
                    <a:pt x="10434701" y="1703197"/>
                  </a:lnTo>
                  <a:lnTo>
                    <a:pt x="10434701" y="1715897"/>
                  </a:lnTo>
                  <a:lnTo>
                    <a:pt x="10422001" y="1715897"/>
                  </a:lnTo>
                  <a:lnTo>
                    <a:pt x="10422001" y="12700"/>
                  </a:lnTo>
                  <a:lnTo>
                    <a:pt x="10434701" y="12700"/>
                  </a:lnTo>
                  <a:lnTo>
                    <a:pt x="1043470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B93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15"/>
          <p:cNvSpPr txBox="1"/>
          <p:nvPr/>
        </p:nvSpPr>
        <p:spPr>
          <a:xfrm>
            <a:off x="9243646" y="3563360"/>
            <a:ext cx="778466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개선사항</a:t>
            </a:r>
            <a:endParaRPr sz="5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 txBox="1"/>
          <p:nvPr/>
        </p:nvSpPr>
        <p:spPr>
          <a:xfrm>
            <a:off x="1385054" y="5068843"/>
            <a:ext cx="7532370" cy="401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Clr>
                <a:srgbClr val="62B2FA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62B2FA"/>
                </a:solidFill>
                <a:latin typeface="Arial"/>
                <a:ea typeface="Arial"/>
                <a:cs typeface="Arial"/>
                <a:sym typeface="Arial"/>
              </a:rPr>
              <a:t>API 호출 </a:t>
            </a:r>
            <a:endParaRPr/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62B2FA"/>
                </a:solidFill>
                <a:latin typeface="Arial"/>
                <a:ea typeface="Arial"/>
                <a:cs typeface="Arial"/>
                <a:sym typeface="Arial"/>
              </a:rPr>
              <a:t>    → 과거 분석에 유리</a:t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62B2FA"/>
                </a:solidFill>
                <a:latin typeface="Arial"/>
                <a:ea typeface="Arial"/>
                <a:cs typeface="Arial"/>
                <a:sym typeface="Arial"/>
              </a:rPr>
              <a:t>    → 호출 횟수의 한계</a:t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62B2FA"/>
                </a:solidFill>
                <a:latin typeface="Arial"/>
                <a:ea typeface="Arial"/>
                <a:cs typeface="Arial"/>
                <a:sym typeface="Arial"/>
              </a:rPr>
              <a:t>    → 즉각 대응 서비스 구현 목적과 차이 존재</a:t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9369795" y="5068843"/>
            <a:ext cx="7532370" cy="401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재난문자 크롤링 </a:t>
            </a:r>
            <a:endParaRPr/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    → 실제 수신 구조 환경 구현</a:t>
            </a:r>
            <a:endParaRPr/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    → 최신 정보 즉시 반영 가능</a:t>
            </a:r>
            <a:endParaRPr/>
          </a:p>
          <a:p>
            <a:pPr indent="-271460" lvl="1" marL="542921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6"/>
          <p:cNvSpPr/>
          <p:nvPr/>
        </p:nvSpPr>
        <p:spPr>
          <a:xfrm>
            <a:off x="9520" y="10355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464" name="Google Shape;464;p16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5" name="Google Shape;465;p16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466" name="Google Shape;466;p16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467" name="Google Shape;467;p16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시연 및 분석</a:t>
              </a:r>
              <a:endParaRPr/>
            </a:p>
          </p:txBody>
        </p:sp>
      </p:grpSp>
      <p:grpSp>
        <p:nvGrpSpPr>
          <p:cNvPr id="468" name="Google Shape;468;p16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469" name="Google Shape;469;p16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6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시스템 설명 : 크롤링(Crawling)이란？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1" name="Google Shape;471;p16"/>
          <p:cNvCxnSpPr/>
          <p:nvPr/>
        </p:nvCxnSpPr>
        <p:spPr>
          <a:xfrm>
            <a:off x="1181103" y="2652150"/>
            <a:ext cx="2220298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16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16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4" name="Google Shape;4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0834" y="3436779"/>
            <a:ext cx="4495799" cy="2822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4423" y="7343312"/>
            <a:ext cx="4328620" cy="142389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40000"/>
              </a:srgbClr>
            </a:outerShdw>
          </a:effectLst>
        </p:spPr>
      </p:pic>
      <p:pic>
        <p:nvPicPr>
          <p:cNvPr id="476" name="Google Shape;47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3044" y="3389428"/>
            <a:ext cx="5609589" cy="2916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3043" y="7509540"/>
            <a:ext cx="5457189" cy="1091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564833" y="3405005"/>
            <a:ext cx="4858428" cy="2885833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6"/>
          <p:cNvSpPr txBox="1"/>
          <p:nvPr/>
        </p:nvSpPr>
        <p:spPr>
          <a:xfrm>
            <a:off x="12399611" y="6576134"/>
            <a:ext cx="51888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Selenium으로 제어하여 데이터를 실제로 수집한다.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6"/>
          <p:cNvSpPr txBox="1"/>
          <p:nvPr/>
        </p:nvSpPr>
        <p:spPr>
          <a:xfrm>
            <a:off x="1019294" y="9102402"/>
            <a:ext cx="47642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필터링을 통해 필요한 데이터를 수집한다.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 txBox="1"/>
          <p:nvPr/>
        </p:nvSpPr>
        <p:spPr>
          <a:xfrm>
            <a:off x="1801195" y="6576134"/>
            <a:ext cx="320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 행씩 Crawling을 진행한다</a:t>
            </a:r>
            <a:endParaRPr/>
          </a:p>
        </p:txBody>
      </p:sp>
      <p:sp>
        <p:nvSpPr>
          <p:cNvPr id="482" name="Google Shape;482;p16"/>
          <p:cNvSpPr txBox="1"/>
          <p:nvPr/>
        </p:nvSpPr>
        <p:spPr>
          <a:xfrm>
            <a:off x="7230834" y="9102402"/>
            <a:ext cx="44957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수집된 데이터를 데이터 프레임으로 저장</a:t>
            </a:r>
            <a:endParaRPr/>
          </a:p>
        </p:txBody>
      </p:sp>
      <p:pic>
        <p:nvPicPr>
          <p:cNvPr id="483" name="Google Shape;4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0835" y="3430243"/>
            <a:ext cx="4495799" cy="282228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40000"/>
              </a:srgbClr>
            </a:outerShdw>
          </a:effectLst>
        </p:spPr>
      </p:pic>
      <p:pic>
        <p:nvPicPr>
          <p:cNvPr id="484" name="Google Shape;48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3045" y="3382892"/>
            <a:ext cx="5609589" cy="29169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40000"/>
              </a:srgbClr>
            </a:outerShdw>
          </a:effectLst>
        </p:spPr>
      </p:pic>
      <p:pic>
        <p:nvPicPr>
          <p:cNvPr id="485" name="Google Shape;48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3044" y="7503004"/>
            <a:ext cx="5457189" cy="109143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40000"/>
              </a:srgbClr>
            </a:outerShdw>
          </a:effectLst>
        </p:spPr>
      </p:pic>
      <p:pic>
        <p:nvPicPr>
          <p:cNvPr id="486" name="Google Shape;48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564834" y="3398469"/>
            <a:ext cx="4858428" cy="288583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"/>
          <p:cNvSpPr/>
          <p:nvPr/>
        </p:nvSpPr>
        <p:spPr>
          <a:xfrm>
            <a:off x="2276739" y="3756083"/>
            <a:ext cx="6410061" cy="4151431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  <a:effectLst>
            <a:outerShdw blurRad="50800" rotWithShape="0" algn="tl" dir="2700000" dist="635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9520" y="10355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493" name="Google Shape;493;p17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4" name="Google Shape;494;p17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495" name="Google Shape;495;p17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496" name="Google Shape;496;p17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시연 및 분석</a:t>
              </a:r>
              <a:endParaRPr/>
            </a:p>
          </p:txBody>
        </p:sp>
      </p:grpSp>
      <p:grpSp>
        <p:nvGrpSpPr>
          <p:cNvPr id="497" name="Google Shape;497;p17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498" name="Google Shape;498;p17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7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시스템 설명 : 하버사인이란？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0" name="Google Shape;500;p17"/>
          <p:cNvCxnSpPr/>
          <p:nvPr/>
        </p:nvCxnSpPr>
        <p:spPr>
          <a:xfrm>
            <a:off x="1181103" y="2652150"/>
            <a:ext cx="2220298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17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17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3" name="Google Shape;5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0" y="3512587"/>
            <a:ext cx="6020640" cy="599206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40000"/>
              </a:srgbClr>
            </a:outerShdw>
          </a:effectLst>
        </p:spPr>
      </p:pic>
      <p:pic>
        <p:nvPicPr>
          <p:cNvPr id="504" name="Google Shape;5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0303" y="3752149"/>
            <a:ext cx="6410062" cy="4159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5" name="Google Shape;505;p17"/>
          <p:cNvCxnSpPr/>
          <p:nvPr/>
        </p:nvCxnSpPr>
        <p:spPr>
          <a:xfrm>
            <a:off x="5334000" y="4706832"/>
            <a:ext cx="1905000" cy="0"/>
          </a:xfrm>
          <a:prstGeom prst="straightConnector1">
            <a:avLst/>
          </a:prstGeom>
          <a:noFill/>
          <a:ln cap="flat" cmpd="sng" w="57150">
            <a:solidFill>
              <a:srgbClr val="0DDD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17"/>
          <p:cNvCxnSpPr/>
          <p:nvPr/>
        </p:nvCxnSpPr>
        <p:spPr>
          <a:xfrm>
            <a:off x="10210800" y="6383232"/>
            <a:ext cx="2629320" cy="0"/>
          </a:xfrm>
          <a:prstGeom prst="straightConnector1">
            <a:avLst/>
          </a:prstGeom>
          <a:noFill/>
          <a:ln cap="flat" cmpd="sng" w="57150">
            <a:solidFill>
              <a:srgbClr val="0DDD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17"/>
          <p:cNvCxnSpPr/>
          <p:nvPr/>
        </p:nvCxnSpPr>
        <p:spPr>
          <a:xfrm>
            <a:off x="5334000" y="5087832"/>
            <a:ext cx="1905000" cy="0"/>
          </a:xfrm>
          <a:prstGeom prst="straightConnector1">
            <a:avLst/>
          </a:prstGeom>
          <a:noFill/>
          <a:ln cap="flat" cmpd="sng" w="57150">
            <a:solidFill>
              <a:srgbClr val="5EF21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17"/>
          <p:cNvCxnSpPr/>
          <p:nvPr/>
        </p:nvCxnSpPr>
        <p:spPr>
          <a:xfrm>
            <a:off x="10210800" y="7069032"/>
            <a:ext cx="2629320" cy="0"/>
          </a:xfrm>
          <a:prstGeom prst="straightConnector1">
            <a:avLst/>
          </a:prstGeom>
          <a:noFill/>
          <a:ln cap="flat" cmpd="sng" w="57150">
            <a:solidFill>
              <a:srgbClr val="5EF21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17"/>
          <p:cNvCxnSpPr/>
          <p:nvPr/>
        </p:nvCxnSpPr>
        <p:spPr>
          <a:xfrm>
            <a:off x="4038600" y="6371290"/>
            <a:ext cx="1295400" cy="0"/>
          </a:xfrm>
          <a:prstGeom prst="straightConnector1">
            <a:avLst/>
          </a:prstGeom>
          <a:noFill/>
          <a:ln cap="flat" cmpd="sng" w="57150">
            <a:solidFill>
              <a:srgbClr val="FB93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17"/>
          <p:cNvCxnSpPr/>
          <p:nvPr/>
        </p:nvCxnSpPr>
        <p:spPr>
          <a:xfrm>
            <a:off x="10210800" y="7911450"/>
            <a:ext cx="2362200" cy="0"/>
          </a:xfrm>
          <a:prstGeom prst="straightConnector1">
            <a:avLst/>
          </a:prstGeom>
          <a:noFill/>
          <a:ln cap="flat" cmpd="sng" w="57150">
            <a:solidFill>
              <a:srgbClr val="FB93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17"/>
          <p:cNvCxnSpPr/>
          <p:nvPr/>
        </p:nvCxnSpPr>
        <p:spPr>
          <a:xfrm>
            <a:off x="5562600" y="6383232"/>
            <a:ext cx="312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17"/>
          <p:cNvCxnSpPr/>
          <p:nvPr/>
        </p:nvCxnSpPr>
        <p:spPr>
          <a:xfrm>
            <a:off x="10210800" y="8364432"/>
            <a:ext cx="55626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17"/>
          <p:cNvCxnSpPr/>
          <p:nvPr/>
        </p:nvCxnSpPr>
        <p:spPr>
          <a:xfrm>
            <a:off x="4876800" y="7221432"/>
            <a:ext cx="3124200" cy="0"/>
          </a:xfrm>
          <a:prstGeom prst="straightConnector1">
            <a:avLst/>
          </a:prstGeom>
          <a:noFill/>
          <a:ln cap="flat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17"/>
          <p:cNvCxnSpPr/>
          <p:nvPr/>
        </p:nvCxnSpPr>
        <p:spPr>
          <a:xfrm>
            <a:off x="9829800" y="9202632"/>
            <a:ext cx="5638800" cy="0"/>
          </a:xfrm>
          <a:prstGeom prst="straightConnector1">
            <a:avLst/>
          </a:prstGeom>
          <a:noFill/>
          <a:ln cap="flat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"/>
          <p:cNvSpPr/>
          <p:nvPr/>
        </p:nvSpPr>
        <p:spPr>
          <a:xfrm>
            <a:off x="9520" y="10355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521" name="Google Shape;521;p18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2" name="Google Shape;522;p18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523" name="Google Shape;523;p18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524" name="Google Shape;524;p18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시연 및 분석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p18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526" name="Google Shape;526;p18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8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시스템 설명 : ORSM이란？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28" name="Google Shape;528;p18"/>
          <p:cNvCxnSpPr/>
          <p:nvPr/>
        </p:nvCxnSpPr>
        <p:spPr>
          <a:xfrm>
            <a:off x="1181103" y="2652150"/>
            <a:ext cx="2220298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9" name="Google Shape;529;p18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18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1" name="Google Shape;531;p18"/>
          <p:cNvPicPr preferRelativeResize="0"/>
          <p:nvPr/>
        </p:nvPicPr>
        <p:blipFill rotWithShape="1">
          <a:blip r:embed="rId4">
            <a:alphaModFix/>
          </a:blip>
          <a:srcRect b="0" l="0" r="22974" t="0"/>
          <a:stretch/>
        </p:blipFill>
        <p:spPr>
          <a:xfrm>
            <a:off x="461944" y="4699902"/>
            <a:ext cx="5132418" cy="111427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50196"/>
              </a:srgbClr>
            </a:outerShdw>
          </a:effectLst>
        </p:spPr>
      </p:pic>
      <p:pic>
        <p:nvPicPr>
          <p:cNvPr id="532" name="Google Shape;5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5930" y="3711516"/>
            <a:ext cx="6297008" cy="30910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50196"/>
              </a:srgbClr>
            </a:outerShdw>
          </a:effectLst>
        </p:spPr>
      </p:pic>
      <p:pic>
        <p:nvPicPr>
          <p:cNvPr id="533" name="Google Shape;533;p18"/>
          <p:cNvPicPr preferRelativeResize="0"/>
          <p:nvPr/>
        </p:nvPicPr>
        <p:blipFill rotWithShape="1">
          <a:blip r:embed="rId6">
            <a:alphaModFix/>
          </a:blip>
          <a:srcRect b="0" l="0" r="10763" t="0"/>
          <a:stretch/>
        </p:blipFill>
        <p:spPr>
          <a:xfrm>
            <a:off x="12308558" y="4429660"/>
            <a:ext cx="5631113" cy="165475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63500">
              <a:srgbClr val="000000">
                <a:alpha val="50196"/>
              </a:srgbClr>
            </a:outerShdw>
          </a:effectLst>
        </p:spPr>
      </p:pic>
      <p:sp>
        <p:nvSpPr>
          <p:cNvPr id="534" name="Google Shape;534;p18"/>
          <p:cNvSpPr txBox="1"/>
          <p:nvPr/>
        </p:nvSpPr>
        <p:spPr>
          <a:xfrm>
            <a:off x="323053" y="7466085"/>
            <a:ext cx="5410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OSRM 서버 주소, 도보 프로필, 타임아웃을 설정한 부분 라우팅 기능의 기본 환경값 정의</a:t>
            </a:r>
            <a:endParaRPr/>
          </a:p>
        </p:txBody>
      </p:sp>
      <p:sp>
        <p:nvSpPr>
          <p:cNvPr id="535" name="Google Shape;535;p18"/>
          <p:cNvSpPr txBox="1"/>
          <p:nvPr/>
        </p:nvSpPr>
        <p:spPr>
          <a:xfrm>
            <a:off x="6303169" y="7466085"/>
            <a:ext cx="5410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출발지와 목적지 좌표를 이용해 OSRM API를 호출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실제 도보 경로 조회가 이루어지는 로직</a:t>
            </a:r>
            <a:endParaRPr/>
          </a:p>
        </p:txBody>
      </p:sp>
      <p:sp>
        <p:nvSpPr>
          <p:cNvPr id="536" name="Google Shape;536;p18"/>
          <p:cNvSpPr txBox="1"/>
          <p:nvPr/>
        </p:nvSpPr>
        <p:spPr>
          <a:xfrm>
            <a:off x="12283284" y="7466085"/>
            <a:ext cx="56816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OSRM 응답에서 거리, 소요 시간, 경로 좌표를 정리해 반환 이후 추천 로직과 지도 시각화에 활용되는 데이터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9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542" name="Google Shape;542;p19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19"/>
          <p:cNvSpPr/>
          <p:nvPr/>
        </p:nvSpPr>
        <p:spPr>
          <a:xfrm>
            <a:off x="1215095" y="3007662"/>
            <a:ext cx="7873079" cy="6659337"/>
          </a:xfrm>
          <a:custGeom>
            <a:rect b="b" l="l" r="r" t="t"/>
            <a:pathLst>
              <a:path extrusionOk="0" h="6659337" w="7873079">
                <a:moveTo>
                  <a:pt x="0" y="0"/>
                </a:moveTo>
                <a:lnTo>
                  <a:pt x="7873079" y="0"/>
                </a:lnTo>
                <a:lnTo>
                  <a:pt x="7873079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4" name="Google Shape;544;p19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545" name="Google Shape;545;p19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546" name="Google Shape;546;p19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한계점과 개선사항</a:t>
              </a:r>
              <a:endParaRPr/>
            </a:p>
          </p:txBody>
        </p:sp>
      </p:grpSp>
      <p:grpSp>
        <p:nvGrpSpPr>
          <p:cNvPr id="547" name="Google Shape;547;p19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548" name="Google Shape;548;p19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549" name="Google Shape;549;p19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지도 측면의 한계점과 개선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50" name="Google Shape;550;p19"/>
          <p:cNvCxnSpPr/>
          <p:nvPr/>
        </p:nvCxnSpPr>
        <p:spPr>
          <a:xfrm>
            <a:off x="1181103" y="2652150"/>
            <a:ext cx="222037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1" name="Google Shape;551;p19"/>
          <p:cNvGrpSpPr/>
          <p:nvPr/>
        </p:nvGrpSpPr>
        <p:grpSpPr>
          <a:xfrm>
            <a:off x="1233488" y="3315176"/>
            <a:ext cx="7835550" cy="1296448"/>
            <a:chOff x="0" y="0"/>
            <a:chExt cx="10447401" cy="1728597"/>
          </a:xfrm>
        </p:grpSpPr>
        <p:sp>
          <p:nvSpPr>
            <p:cNvPr id="552" name="Google Shape;552;p19"/>
            <p:cNvSpPr/>
            <p:nvPr/>
          </p:nvSpPr>
          <p:spPr>
            <a:xfrm>
              <a:off x="12700" y="12700"/>
              <a:ext cx="10422001" cy="1703197"/>
            </a:xfrm>
            <a:custGeom>
              <a:rect b="b" l="l" r="r" t="t"/>
              <a:pathLst>
                <a:path extrusionOk="0" h="1703197" w="10422001">
                  <a:moveTo>
                    <a:pt x="0" y="0"/>
                  </a:moveTo>
                  <a:lnTo>
                    <a:pt x="10422001" y="0"/>
                  </a:lnTo>
                  <a:lnTo>
                    <a:pt x="10422001" y="1703197"/>
                  </a:lnTo>
                  <a:lnTo>
                    <a:pt x="0" y="1703197"/>
                  </a:lnTo>
                  <a:close/>
                </a:path>
              </a:pathLst>
            </a:custGeom>
            <a:solidFill>
              <a:srgbClr val="E1F4FF"/>
            </a:solidFill>
            <a:ln>
              <a:noFill/>
            </a:ln>
          </p:spPr>
        </p:sp>
        <p:sp>
          <p:nvSpPr>
            <p:cNvPr id="553" name="Google Shape;553;p19"/>
            <p:cNvSpPr/>
            <p:nvPr/>
          </p:nvSpPr>
          <p:spPr>
            <a:xfrm>
              <a:off x="0" y="0"/>
              <a:ext cx="10447401" cy="1728597"/>
            </a:xfrm>
            <a:custGeom>
              <a:rect b="b" l="l" r="r" t="t"/>
              <a:pathLst>
                <a:path extrusionOk="0" h="1728597" w="10447401">
                  <a:moveTo>
                    <a:pt x="12700" y="0"/>
                  </a:moveTo>
                  <a:lnTo>
                    <a:pt x="10434701" y="0"/>
                  </a:lnTo>
                  <a:cubicBezTo>
                    <a:pt x="10441686" y="0"/>
                    <a:pt x="10447401" y="5715"/>
                    <a:pt x="10447401" y="12700"/>
                  </a:cubicBezTo>
                  <a:lnTo>
                    <a:pt x="10447401" y="1715897"/>
                  </a:lnTo>
                  <a:cubicBezTo>
                    <a:pt x="10447401" y="1722882"/>
                    <a:pt x="10441686" y="1728597"/>
                    <a:pt x="10434701" y="1728597"/>
                  </a:cubicBezTo>
                  <a:lnTo>
                    <a:pt x="12700" y="1728597"/>
                  </a:lnTo>
                  <a:cubicBezTo>
                    <a:pt x="5715" y="1728597"/>
                    <a:pt x="0" y="1722882"/>
                    <a:pt x="0" y="171589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15897"/>
                  </a:lnTo>
                  <a:lnTo>
                    <a:pt x="12700" y="1715897"/>
                  </a:lnTo>
                  <a:lnTo>
                    <a:pt x="12700" y="1703197"/>
                  </a:lnTo>
                  <a:lnTo>
                    <a:pt x="10434701" y="1703197"/>
                  </a:lnTo>
                  <a:lnTo>
                    <a:pt x="10434701" y="1715897"/>
                  </a:lnTo>
                  <a:lnTo>
                    <a:pt x="10422001" y="1715897"/>
                  </a:lnTo>
                  <a:lnTo>
                    <a:pt x="10422001" y="12700"/>
                  </a:lnTo>
                  <a:lnTo>
                    <a:pt x="10434701" y="12700"/>
                  </a:lnTo>
                  <a:lnTo>
                    <a:pt x="1043470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2B2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4" name="Google Shape;554;p19"/>
          <p:cNvSpPr txBox="1"/>
          <p:nvPr/>
        </p:nvSpPr>
        <p:spPr>
          <a:xfrm>
            <a:off x="1215095" y="3563360"/>
            <a:ext cx="781169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한계점</a:t>
            </a:r>
            <a:endParaRPr sz="5000">
              <a:solidFill>
                <a:srgbClr val="4472C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9199826" y="3007662"/>
            <a:ext cx="7873079" cy="6659337"/>
          </a:xfrm>
          <a:custGeom>
            <a:rect b="b" l="l" r="r" t="t"/>
            <a:pathLst>
              <a:path extrusionOk="0" h="6659337" w="7873079">
                <a:moveTo>
                  <a:pt x="0" y="0"/>
                </a:moveTo>
                <a:lnTo>
                  <a:pt x="7873079" y="0"/>
                </a:lnTo>
                <a:lnTo>
                  <a:pt x="7873079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6" name="Google Shape;556;p19"/>
          <p:cNvGrpSpPr/>
          <p:nvPr/>
        </p:nvGrpSpPr>
        <p:grpSpPr>
          <a:xfrm>
            <a:off x="9218228" y="3315176"/>
            <a:ext cx="7835550" cy="1296448"/>
            <a:chOff x="0" y="0"/>
            <a:chExt cx="10447401" cy="1728597"/>
          </a:xfrm>
        </p:grpSpPr>
        <p:sp>
          <p:nvSpPr>
            <p:cNvPr id="557" name="Google Shape;557;p19"/>
            <p:cNvSpPr/>
            <p:nvPr/>
          </p:nvSpPr>
          <p:spPr>
            <a:xfrm>
              <a:off x="12700" y="12700"/>
              <a:ext cx="10422001" cy="1703197"/>
            </a:xfrm>
            <a:custGeom>
              <a:rect b="b" l="l" r="r" t="t"/>
              <a:pathLst>
                <a:path extrusionOk="0" h="1703197" w="10422001">
                  <a:moveTo>
                    <a:pt x="0" y="0"/>
                  </a:moveTo>
                  <a:lnTo>
                    <a:pt x="10422001" y="0"/>
                  </a:lnTo>
                  <a:lnTo>
                    <a:pt x="10422001" y="1703197"/>
                  </a:lnTo>
                  <a:lnTo>
                    <a:pt x="0" y="1703197"/>
                  </a:lnTo>
                  <a:close/>
                </a:path>
              </a:pathLst>
            </a:custGeom>
            <a:solidFill>
              <a:srgbClr val="FFF3FE"/>
            </a:solidFill>
            <a:ln>
              <a:noFill/>
            </a:ln>
          </p:spPr>
        </p:sp>
        <p:sp>
          <p:nvSpPr>
            <p:cNvPr id="558" name="Google Shape;558;p19"/>
            <p:cNvSpPr/>
            <p:nvPr/>
          </p:nvSpPr>
          <p:spPr>
            <a:xfrm>
              <a:off x="0" y="0"/>
              <a:ext cx="10447401" cy="1728597"/>
            </a:xfrm>
            <a:custGeom>
              <a:rect b="b" l="l" r="r" t="t"/>
              <a:pathLst>
                <a:path extrusionOk="0" h="1728597" w="10447401">
                  <a:moveTo>
                    <a:pt x="12700" y="0"/>
                  </a:moveTo>
                  <a:lnTo>
                    <a:pt x="10434701" y="0"/>
                  </a:lnTo>
                  <a:cubicBezTo>
                    <a:pt x="10441686" y="0"/>
                    <a:pt x="10447401" y="5715"/>
                    <a:pt x="10447401" y="12700"/>
                  </a:cubicBezTo>
                  <a:lnTo>
                    <a:pt x="10447401" y="1715897"/>
                  </a:lnTo>
                  <a:cubicBezTo>
                    <a:pt x="10447401" y="1722882"/>
                    <a:pt x="10441686" y="1728597"/>
                    <a:pt x="10434701" y="1728597"/>
                  </a:cubicBezTo>
                  <a:lnTo>
                    <a:pt x="12700" y="1728597"/>
                  </a:lnTo>
                  <a:cubicBezTo>
                    <a:pt x="5715" y="1728597"/>
                    <a:pt x="0" y="1722882"/>
                    <a:pt x="0" y="171589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15897"/>
                  </a:lnTo>
                  <a:lnTo>
                    <a:pt x="12700" y="1715897"/>
                  </a:lnTo>
                  <a:lnTo>
                    <a:pt x="12700" y="1703197"/>
                  </a:lnTo>
                  <a:lnTo>
                    <a:pt x="10434701" y="1703197"/>
                  </a:lnTo>
                  <a:lnTo>
                    <a:pt x="10434701" y="1715897"/>
                  </a:lnTo>
                  <a:lnTo>
                    <a:pt x="10422001" y="1715897"/>
                  </a:lnTo>
                  <a:lnTo>
                    <a:pt x="10422001" y="12700"/>
                  </a:lnTo>
                  <a:lnTo>
                    <a:pt x="10434701" y="12700"/>
                  </a:lnTo>
                  <a:lnTo>
                    <a:pt x="1043470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B93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9" name="Google Shape;559;p19"/>
          <p:cNvSpPr txBox="1"/>
          <p:nvPr/>
        </p:nvSpPr>
        <p:spPr>
          <a:xfrm>
            <a:off x="9243646" y="3563360"/>
            <a:ext cx="7784668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개선사항</a:t>
            </a:r>
            <a:endParaRPr sz="5000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9"/>
          <p:cNvSpPr txBox="1"/>
          <p:nvPr/>
        </p:nvSpPr>
        <p:spPr>
          <a:xfrm>
            <a:off x="1385054" y="5068843"/>
            <a:ext cx="7532370" cy="407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Clr>
                <a:srgbClr val="62B2FA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62B2FA"/>
                </a:solidFill>
                <a:latin typeface="Arial"/>
                <a:ea typeface="Arial"/>
                <a:cs typeface="Arial"/>
                <a:sym typeface="Arial"/>
              </a:rPr>
              <a:t>상용 API 의존성</a:t>
            </a:r>
            <a:endParaRPr b="0" i="0" sz="2999" u="none" cap="none" strike="noStrike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62B2FA"/>
                </a:solidFill>
                <a:latin typeface="Arial"/>
                <a:ea typeface="Arial"/>
                <a:cs typeface="Arial"/>
                <a:sym typeface="Arial"/>
              </a:rPr>
              <a:t>    → 서비스 확장성 문제</a:t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62B2FA"/>
                </a:solidFill>
                <a:latin typeface="Arial"/>
                <a:ea typeface="Arial"/>
                <a:cs typeface="Arial"/>
                <a:sym typeface="Arial"/>
              </a:rPr>
              <a:t>    → 반복 호출로 인한 유연성 제약</a:t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62B2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9"/>
          <p:cNvSpPr txBox="1"/>
          <p:nvPr/>
        </p:nvSpPr>
        <p:spPr>
          <a:xfrm>
            <a:off x="9369795" y="5068843"/>
            <a:ext cx="7532370" cy="407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48" lvl="1" marL="647695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OSRM 기반 구조로 전환</a:t>
            </a:r>
            <a:endParaRPr b="0" i="0" sz="2999" u="none" cap="none" strike="noStrike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    → 반복 호출과 확장성 문제 완화</a:t>
            </a:r>
            <a:endParaRPr sz="2999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    → 유연한 경로 계산 가능</a:t>
            </a:r>
            <a:endParaRPr sz="2999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460" lvl="1" marL="542921" marR="0" rtl="0" algn="l">
              <a:lnSpc>
                <a:spcPct val="18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FF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p20"/>
          <p:cNvGrpSpPr/>
          <p:nvPr/>
        </p:nvGrpSpPr>
        <p:grpSpPr>
          <a:xfrm>
            <a:off x="2553298" y="6865400"/>
            <a:ext cx="3240000" cy="1240254"/>
            <a:chOff x="0" y="-9525"/>
            <a:chExt cx="840212" cy="385375"/>
          </a:xfrm>
        </p:grpSpPr>
        <p:sp>
          <p:nvSpPr>
            <p:cNvPr id="567" name="Google Shape;567;p20"/>
            <p:cNvSpPr/>
            <p:nvPr/>
          </p:nvSpPr>
          <p:spPr>
            <a:xfrm>
              <a:off x="0" y="0"/>
              <a:ext cx="840212" cy="375850"/>
            </a:xfrm>
            <a:custGeom>
              <a:rect b="b" l="l" r="r" t="t"/>
              <a:pathLst>
                <a:path extrusionOk="0" h="375850" w="840212">
                  <a:moveTo>
                    <a:pt x="123767" y="0"/>
                  </a:moveTo>
                  <a:lnTo>
                    <a:pt x="716445" y="0"/>
                  </a:lnTo>
                  <a:cubicBezTo>
                    <a:pt x="749270" y="0"/>
                    <a:pt x="780751" y="13040"/>
                    <a:pt x="803961" y="36250"/>
                  </a:cubicBezTo>
                  <a:cubicBezTo>
                    <a:pt x="827172" y="59461"/>
                    <a:pt x="840212" y="90942"/>
                    <a:pt x="840212" y="123767"/>
                  </a:cubicBezTo>
                  <a:lnTo>
                    <a:pt x="840212" y="252084"/>
                  </a:lnTo>
                  <a:cubicBezTo>
                    <a:pt x="840212" y="320438"/>
                    <a:pt x="784800" y="375850"/>
                    <a:pt x="716445" y="375850"/>
                  </a:cubicBezTo>
                  <a:lnTo>
                    <a:pt x="123767" y="375850"/>
                  </a:lnTo>
                  <a:cubicBezTo>
                    <a:pt x="55412" y="375850"/>
                    <a:pt x="0" y="320438"/>
                    <a:pt x="0" y="252084"/>
                  </a:cubicBezTo>
                  <a:lnTo>
                    <a:pt x="0" y="123767"/>
                  </a:lnTo>
                  <a:cubicBezTo>
                    <a:pt x="0" y="55412"/>
                    <a:pt x="55412" y="0"/>
                    <a:pt x="123767" y="0"/>
                  </a:cubicBezTo>
                  <a:close/>
                </a:path>
              </a:pathLst>
            </a:custGeom>
            <a:solidFill>
              <a:srgbClr val="506D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0"/>
            <p:cNvSpPr txBox="1"/>
            <p:nvPr/>
          </p:nvSpPr>
          <p:spPr>
            <a:xfrm>
              <a:off x="0" y="-9525"/>
              <a:ext cx="840212" cy="385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" name="Google Shape;569;p20"/>
          <p:cNvSpPr/>
          <p:nvPr/>
        </p:nvSpPr>
        <p:spPr>
          <a:xfrm>
            <a:off x="9520" y="10355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570" name="Google Shape;570;p20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1" name="Google Shape;571;p20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572" name="Google Shape;572;p20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573" name="Google Shape;573;p20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시연 및 분석</a:t>
              </a:r>
              <a:endParaRPr/>
            </a:p>
          </p:txBody>
        </p:sp>
      </p:grpSp>
      <p:grpSp>
        <p:nvGrpSpPr>
          <p:cNvPr id="574" name="Google Shape;574;p20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575" name="Google Shape;575;p20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576" name="Google Shape;576;p20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최종 시스템 동작 방식</a:t>
              </a:r>
              <a:endParaRPr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7" name="Google Shape;577;p20"/>
          <p:cNvCxnSpPr/>
          <p:nvPr/>
        </p:nvCxnSpPr>
        <p:spPr>
          <a:xfrm>
            <a:off x="1181103" y="2652150"/>
            <a:ext cx="2220298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20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20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20"/>
          <p:cNvSpPr/>
          <p:nvPr/>
        </p:nvSpPr>
        <p:spPr>
          <a:xfrm>
            <a:off x="1244390" y="5863203"/>
            <a:ext cx="15552906" cy="901358"/>
          </a:xfrm>
          <a:custGeom>
            <a:rect b="b" l="l" r="r" t="t"/>
            <a:pathLst>
              <a:path extrusionOk="0" h="901358" w="16103766">
                <a:moveTo>
                  <a:pt x="0" y="0"/>
                </a:moveTo>
                <a:lnTo>
                  <a:pt x="16103766" y="0"/>
                </a:lnTo>
                <a:lnTo>
                  <a:pt x="16103766" y="901358"/>
                </a:lnTo>
                <a:lnTo>
                  <a:pt x="0" y="90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352" l="0" r="0" t="-10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1" name="Google Shape;581;p20"/>
          <p:cNvGrpSpPr/>
          <p:nvPr/>
        </p:nvGrpSpPr>
        <p:grpSpPr>
          <a:xfrm>
            <a:off x="257843" y="4493395"/>
            <a:ext cx="3240003" cy="1245983"/>
            <a:chOff x="0" y="-9525"/>
            <a:chExt cx="964008" cy="328160"/>
          </a:xfrm>
        </p:grpSpPr>
        <p:sp>
          <p:nvSpPr>
            <p:cNvPr id="582" name="Google Shape;582;p20"/>
            <p:cNvSpPr/>
            <p:nvPr/>
          </p:nvSpPr>
          <p:spPr>
            <a:xfrm>
              <a:off x="0" y="0"/>
              <a:ext cx="964008" cy="318635"/>
            </a:xfrm>
            <a:custGeom>
              <a:rect b="b" l="l" r="r" t="t"/>
              <a:pathLst>
                <a:path extrusionOk="0" h="318635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210762"/>
                  </a:lnTo>
                  <a:cubicBezTo>
                    <a:pt x="964008" y="239372"/>
                    <a:pt x="952642" y="266810"/>
                    <a:pt x="932412" y="287040"/>
                  </a:cubicBezTo>
                  <a:cubicBezTo>
                    <a:pt x="912182" y="307270"/>
                    <a:pt x="884744" y="318635"/>
                    <a:pt x="856135" y="318635"/>
                  </a:cubicBezTo>
                  <a:lnTo>
                    <a:pt x="107873" y="318635"/>
                  </a:lnTo>
                  <a:cubicBezTo>
                    <a:pt x="79263" y="318635"/>
                    <a:pt x="51825" y="307270"/>
                    <a:pt x="31595" y="287040"/>
                  </a:cubicBezTo>
                  <a:cubicBezTo>
                    <a:pt x="11365" y="266810"/>
                    <a:pt x="0" y="239372"/>
                    <a:pt x="0" y="210762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62B2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20"/>
            <p:cNvSpPr txBox="1"/>
            <p:nvPr/>
          </p:nvSpPr>
          <p:spPr>
            <a:xfrm>
              <a:off x="0" y="-9525"/>
              <a:ext cx="964007" cy="32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4" name="Google Shape;584;p20"/>
          <p:cNvSpPr txBox="1"/>
          <p:nvPr/>
        </p:nvSpPr>
        <p:spPr>
          <a:xfrm>
            <a:off x="529608" y="4787006"/>
            <a:ext cx="2696470" cy="565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재난문자 크롤링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20"/>
          <p:cNvGrpSpPr/>
          <p:nvPr/>
        </p:nvGrpSpPr>
        <p:grpSpPr>
          <a:xfrm>
            <a:off x="9921413" y="4526108"/>
            <a:ext cx="3240003" cy="1245983"/>
            <a:chOff x="0" y="-9525"/>
            <a:chExt cx="964008" cy="328160"/>
          </a:xfrm>
        </p:grpSpPr>
        <p:sp>
          <p:nvSpPr>
            <p:cNvPr id="586" name="Google Shape;586;p20"/>
            <p:cNvSpPr/>
            <p:nvPr/>
          </p:nvSpPr>
          <p:spPr>
            <a:xfrm>
              <a:off x="0" y="0"/>
              <a:ext cx="964008" cy="318635"/>
            </a:xfrm>
            <a:custGeom>
              <a:rect b="b" l="l" r="r" t="t"/>
              <a:pathLst>
                <a:path extrusionOk="0" h="318635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210762"/>
                  </a:lnTo>
                  <a:cubicBezTo>
                    <a:pt x="964008" y="239372"/>
                    <a:pt x="952642" y="266810"/>
                    <a:pt x="932412" y="287040"/>
                  </a:cubicBezTo>
                  <a:cubicBezTo>
                    <a:pt x="912182" y="307270"/>
                    <a:pt x="884744" y="318635"/>
                    <a:pt x="856135" y="318635"/>
                  </a:cubicBezTo>
                  <a:lnTo>
                    <a:pt x="107873" y="318635"/>
                  </a:lnTo>
                  <a:cubicBezTo>
                    <a:pt x="79263" y="318635"/>
                    <a:pt x="51825" y="307270"/>
                    <a:pt x="31595" y="287040"/>
                  </a:cubicBezTo>
                  <a:cubicBezTo>
                    <a:pt x="11365" y="266810"/>
                    <a:pt x="0" y="239372"/>
                    <a:pt x="0" y="210762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EB7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0"/>
            <p:cNvSpPr txBox="1"/>
            <p:nvPr/>
          </p:nvSpPr>
          <p:spPr>
            <a:xfrm>
              <a:off x="0" y="-9525"/>
              <a:ext cx="964007" cy="32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8" name="Google Shape;588;p20"/>
          <p:cNvSpPr txBox="1"/>
          <p:nvPr/>
        </p:nvSpPr>
        <p:spPr>
          <a:xfrm>
            <a:off x="9946323" y="4513429"/>
            <a:ext cx="3190180" cy="117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하버사인 공식</a:t>
            </a:r>
            <a:endParaRPr/>
          </a:p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기반 거리 산출</a:t>
            </a: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14826632" y="4516695"/>
            <a:ext cx="3240003" cy="1245983"/>
            <a:chOff x="0" y="-9525"/>
            <a:chExt cx="964008" cy="328160"/>
          </a:xfrm>
        </p:grpSpPr>
        <p:sp>
          <p:nvSpPr>
            <p:cNvPr id="590" name="Google Shape;590;p20"/>
            <p:cNvSpPr/>
            <p:nvPr/>
          </p:nvSpPr>
          <p:spPr>
            <a:xfrm>
              <a:off x="0" y="0"/>
              <a:ext cx="964008" cy="318635"/>
            </a:xfrm>
            <a:custGeom>
              <a:rect b="b" l="l" r="r" t="t"/>
              <a:pathLst>
                <a:path extrusionOk="0" h="318635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210762"/>
                  </a:lnTo>
                  <a:cubicBezTo>
                    <a:pt x="964008" y="239372"/>
                    <a:pt x="952642" y="266810"/>
                    <a:pt x="932412" y="287040"/>
                  </a:cubicBezTo>
                  <a:cubicBezTo>
                    <a:pt x="912182" y="307270"/>
                    <a:pt x="884744" y="318635"/>
                    <a:pt x="856135" y="318635"/>
                  </a:cubicBezTo>
                  <a:lnTo>
                    <a:pt x="107873" y="318635"/>
                  </a:lnTo>
                  <a:cubicBezTo>
                    <a:pt x="79263" y="318635"/>
                    <a:pt x="51825" y="307270"/>
                    <a:pt x="31595" y="287040"/>
                  </a:cubicBezTo>
                  <a:cubicBezTo>
                    <a:pt x="11365" y="266810"/>
                    <a:pt x="0" y="239372"/>
                    <a:pt x="0" y="210762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FB93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0"/>
            <p:cNvSpPr txBox="1"/>
            <p:nvPr/>
          </p:nvSpPr>
          <p:spPr>
            <a:xfrm>
              <a:off x="0" y="-9525"/>
              <a:ext cx="964007" cy="32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2" name="Google Shape;592;p20"/>
          <p:cNvSpPr txBox="1"/>
          <p:nvPr/>
        </p:nvSpPr>
        <p:spPr>
          <a:xfrm>
            <a:off x="14780376" y="4489114"/>
            <a:ext cx="3332512" cy="1175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OSRM 기반 </a:t>
            </a:r>
            <a:endParaRPr/>
          </a:p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실제 도보 경로 안내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"/>
          <p:cNvSpPr txBox="1"/>
          <p:nvPr/>
        </p:nvSpPr>
        <p:spPr>
          <a:xfrm>
            <a:off x="2086643" y="6862004"/>
            <a:ext cx="4110561" cy="1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재난 유형 </a:t>
            </a:r>
            <a:endParaRPr/>
          </a:p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지역 필터링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20"/>
          <p:cNvGrpSpPr/>
          <p:nvPr/>
        </p:nvGrpSpPr>
        <p:grpSpPr>
          <a:xfrm>
            <a:off x="12279763" y="6890474"/>
            <a:ext cx="3240000" cy="1240254"/>
            <a:chOff x="0" y="-9525"/>
            <a:chExt cx="840212" cy="385375"/>
          </a:xfrm>
        </p:grpSpPr>
        <p:sp>
          <p:nvSpPr>
            <p:cNvPr id="595" name="Google Shape;595;p20"/>
            <p:cNvSpPr/>
            <p:nvPr/>
          </p:nvSpPr>
          <p:spPr>
            <a:xfrm>
              <a:off x="0" y="0"/>
              <a:ext cx="840212" cy="375850"/>
            </a:xfrm>
            <a:custGeom>
              <a:rect b="b" l="l" r="r" t="t"/>
              <a:pathLst>
                <a:path extrusionOk="0" h="375850" w="840212">
                  <a:moveTo>
                    <a:pt x="123767" y="0"/>
                  </a:moveTo>
                  <a:lnTo>
                    <a:pt x="716445" y="0"/>
                  </a:lnTo>
                  <a:cubicBezTo>
                    <a:pt x="749270" y="0"/>
                    <a:pt x="780751" y="13040"/>
                    <a:pt x="803961" y="36250"/>
                  </a:cubicBezTo>
                  <a:cubicBezTo>
                    <a:pt x="827172" y="59461"/>
                    <a:pt x="840212" y="90942"/>
                    <a:pt x="840212" y="123767"/>
                  </a:cubicBezTo>
                  <a:lnTo>
                    <a:pt x="840212" y="252084"/>
                  </a:lnTo>
                  <a:cubicBezTo>
                    <a:pt x="840212" y="320438"/>
                    <a:pt x="784800" y="375850"/>
                    <a:pt x="716445" y="375850"/>
                  </a:cubicBezTo>
                  <a:lnTo>
                    <a:pt x="123767" y="375850"/>
                  </a:lnTo>
                  <a:cubicBezTo>
                    <a:pt x="55412" y="375850"/>
                    <a:pt x="0" y="320438"/>
                    <a:pt x="0" y="252084"/>
                  </a:cubicBezTo>
                  <a:lnTo>
                    <a:pt x="0" y="123767"/>
                  </a:lnTo>
                  <a:cubicBezTo>
                    <a:pt x="0" y="55412"/>
                    <a:pt x="55412" y="0"/>
                    <a:pt x="123767" y="0"/>
                  </a:cubicBezTo>
                  <a:close/>
                </a:path>
              </a:pathLst>
            </a:custGeom>
            <a:solidFill>
              <a:srgbClr val="EB7EE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0"/>
            <p:cNvSpPr txBox="1"/>
            <p:nvPr/>
          </p:nvSpPr>
          <p:spPr>
            <a:xfrm>
              <a:off x="0" y="-9525"/>
              <a:ext cx="840212" cy="385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7" name="Google Shape;597;p20"/>
          <p:cNvSpPr txBox="1"/>
          <p:nvPr/>
        </p:nvSpPr>
        <p:spPr>
          <a:xfrm>
            <a:off x="11844483" y="7199189"/>
            <a:ext cx="4110561" cy="565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인접 대피소 선정</a:t>
            </a:r>
            <a:endParaRPr/>
          </a:p>
        </p:txBody>
      </p:sp>
      <p:grpSp>
        <p:nvGrpSpPr>
          <p:cNvPr id="598" name="Google Shape;598;p20"/>
          <p:cNvGrpSpPr/>
          <p:nvPr/>
        </p:nvGrpSpPr>
        <p:grpSpPr>
          <a:xfrm>
            <a:off x="4996070" y="4509787"/>
            <a:ext cx="3240003" cy="1245983"/>
            <a:chOff x="0" y="-9525"/>
            <a:chExt cx="964008" cy="328160"/>
          </a:xfrm>
        </p:grpSpPr>
        <p:sp>
          <p:nvSpPr>
            <p:cNvPr id="599" name="Google Shape;599;p20"/>
            <p:cNvSpPr/>
            <p:nvPr/>
          </p:nvSpPr>
          <p:spPr>
            <a:xfrm>
              <a:off x="0" y="0"/>
              <a:ext cx="964008" cy="318635"/>
            </a:xfrm>
            <a:custGeom>
              <a:rect b="b" l="l" r="r" t="t"/>
              <a:pathLst>
                <a:path extrusionOk="0" h="318635" w="964008">
                  <a:moveTo>
                    <a:pt x="107873" y="0"/>
                  </a:moveTo>
                  <a:lnTo>
                    <a:pt x="856135" y="0"/>
                  </a:lnTo>
                  <a:cubicBezTo>
                    <a:pt x="884744" y="0"/>
                    <a:pt x="912182" y="11365"/>
                    <a:pt x="932412" y="31595"/>
                  </a:cubicBezTo>
                  <a:cubicBezTo>
                    <a:pt x="952642" y="51825"/>
                    <a:pt x="964008" y="79263"/>
                    <a:pt x="964008" y="107873"/>
                  </a:cubicBezTo>
                  <a:lnTo>
                    <a:pt x="964008" y="210762"/>
                  </a:lnTo>
                  <a:cubicBezTo>
                    <a:pt x="964008" y="239372"/>
                    <a:pt x="952642" y="266810"/>
                    <a:pt x="932412" y="287040"/>
                  </a:cubicBezTo>
                  <a:cubicBezTo>
                    <a:pt x="912182" y="307270"/>
                    <a:pt x="884744" y="318635"/>
                    <a:pt x="856135" y="318635"/>
                  </a:cubicBezTo>
                  <a:lnTo>
                    <a:pt x="107873" y="318635"/>
                  </a:lnTo>
                  <a:cubicBezTo>
                    <a:pt x="79263" y="318635"/>
                    <a:pt x="51825" y="307270"/>
                    <a:pt x="31595" y="287040"/>
                  </a:cubicBezTo>
                  <a:cubicBezTo>
                    <a:pt x="11365" y="266810"/>
                    <a:pt x="0" y="239372"/>
                    <a:pt x="0" y="210762"/>
                  </a:cubicBezTo>
                  <a:lnTo>
                    <a:pt x="0" y="107873"/>
                  </a:lnTo>
                  <a:cubicBezTo>
                    <a:pt x="0" y="79263"/>
                    <a:pt x="11365" y="51825"/>
                    <a:pt x="31595" y="31595"/>
                  </a:cubicBezTo>
                  <a:cubicBezTo>
                    <a:pt x="51825" y="11365"/>
                    <a:pt x="79263" y="0"/>
                    <a:pt x="107873" y="0"/>
                  </a:cubicBezTo>
                  <a:close/>
                </a:path>
              </a:pathLst>
            </a:custGeom>
            <a:solidFill>
              <a:srgbClr val="A07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0"/>
            <p:cNvSpPr txBox="1"/>
            <p:nvPr/>
          </p:nvSpPr>
          <p:spPr>
            <a:xfrm>
              <a:off x="0" y="-9525"/>
              <a:ext cx="964007" cy="32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1" name="Google Shape;601;p20"/>
          <p:cNvSpPr txBox="1"/>
          <p:nvPr/>
        </p:nvSpPr>
        <p:spPr>
          <a:xfrm>
            <a:off x="5107034" y="4787006"/>
            <a:ext cx="3018072" cy="565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 위치 확인</a:t>
            </a:r>
            <a:endParaRPr/>
          </a:p>
        </p:txBody>
      </p:sp>
      <p:grpSp>
        <p:nvGrpSpPr>
          <p:cNvPr id="602" name="Google Shape;602;p20"/>
          <p:cNvGrpSpPr/>
          <p:nvPr/>
        </p:nvGrpSpPr>
        <p:grpSpPr>
          <a:xfrm>
            <a:off x="7400843" y="6890474"/>
            <a:ext cx="3240000" cy="1240254"/>
            <a:chOff x="0" y="-9525"/>
            <a:chExt cx="840212" cy="385375"/>
          </a:xfrm>
        </p:grpSpPr>
        <p:sp>
          <p:nvSpPr>
            <p:cNvPr id="603" name="Google Shape;603;p20"/>
            <p:cNvSpPr/>
            <p:nvPr/>
          </p:nvSpPr>
          <p:spPr>
            <a:xfrm>
              <a:off x="0" y="0"/>
              <a:ext cx="840212" cy="375850"/>
            </a:xfrm>
            <a:custGeom>
              <a:rect b="b" l="l" r="r" t="t"/>
              <a:pathLst>
                <a:path extrusionOk="0" h="375850" w="840212">
                  <a:moveTo>
                    <a:pt x="123767" y="0"/>
                  </a:moveTo>
                  <a:lnTo>
                    <a:pt x="716445" y="0"/>
                  </a:lnTo>
                  <a:cubicBezTo>
                    <a:pt x="749270" y="0"/>
                    <a:pt x="780751" y="13040"/>
                    <a:pt x="803961" y="36250"/>
                  </a:cubicBezTo>
                  <a:cubicBezTo>
                    <a:pt x="827172" y="59461"/>
                    <a:pt x="840212" y="90942"/>
                    <a:pt x="840212" y="123767"/>
                  </a:cubicBezTo>
                  <a:lnTo>
                    <a:pt x="840212" y="252084"/>
                  </a:lnTo>
                  <a:cubicBezTo>
                    <a:pt x="840212" y="320438"/>
                    <a:pt x="784800" y="375850"/>
                    <a:pt x="716445" y="375850"/>
                  </a:cubicBezTo>
                  <a:lnTo>
                    <a:pt x="123767" y="375850"/>
                  </a:lnTo>
                  <a:cubicBezTo>
                    <a:pt x="55412" y="375850"/>
                    <a:pt x="0" y="320438"/>
                    <a:pt x="0" y="252084"/>
                  </a:cubicBezTo>
                  <a:lnTo>
                    <a:pt x="0" y="123767"/>
                  </a:lnTo>
                  <a:cubicBezTo>
                    <a:pt x="0" y="55412"/>
                    <a:pt x="55412" y="0"/>
                    <a:pt x="123767" y="0"/>
                  </a:cubicBezTo>
                  <a:close/>
                </a:path>
              </a:pathLst>
            </a:custGeom>
            <a:solidFill>
              <a:srgbClr val="A079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0"/>
            <p:cNvSpPr txBox="1"/>
            <p:nvPr/>
          </p:nvSpPr>
          <p:spPr>
            <a:xfrm>
              <a:off x="0" y="-9525"/>
              <a:ext cx="840212" cy="385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" name="Google Shape;605;p20"/>
          <p:cNvSpPr txBox="1"/>
          <p:nvPr/>
        </p:nvSpPr>
        <p:spPr>
          <a:xfrm>
            <a:off x="7425753" y="7199189"/>
            <a:ext cx="3190180" cy="565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대피소 위경도 매칭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주택 단색으로 채워진" id="606" name="Google Shape;606;p2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0134" y="8471827"/>
            <a:ext cx="1659890" cy="165989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0"/>
          <p:cNvSpPr txBox="1"/>
          <p:nvPr/>
        </p:nvSpPr>
        <p:spPr>
          <a:xfrm>
            <a:off x="533400" y="9476943"/>
            <a:ext cx="1126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    동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1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14" name="Google Shape;614;p21"/>
          <p:cNvGrpSpPr/>
          <p:nvPr/>
        </p:nvGrpSpPr>
        <p:grpSpPr>
          <a:xfrm>
            <a:off x="1257300" y="322631"/>
            <a:ext cx="4686300" cy="1549678"/>
            <a:chOff x="0" y="0"/>
            <a:chExt cx="21031200" cy="2066237"/>
          </a:xfrm>
        </p:grpSpPr>
        <p:sp>
          <p:nvSpPr>
            <p:cNvPr id="615" name="Google Shape;615;p21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616" name="Google Shape;616;p21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추가 분석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7" name="Google Shape;617;p21"/>
          <p:cNvCxnSpPr/>
          <p:nvPr/>
        </p:nvCxnSpPr>
        <p:spPr>
          <a:xfrm>
            <a:off x="1181103" y="2652150"/>
            <a:ext cx="2220293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1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21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21"/>
          <p:cNvSpPr txBox="1"/>
          <p:nvPr/>
        </p:nvSpPr>
        <p:spPr>
          <a:xfrm>
            <a:off x="1381897" y="1866900"/>
            <a:ext cx="3723503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특보등급별 재난 분포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1" name="Google Shape;6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897" y="3162300"/>
            <a:ext cx="16052752" cy="6414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627;p22"/>
          <p:cNvGrpSpPr/>
          <p:nvPr/>
        </p:nvGrpSpPr>
        <p:grpSpPr>
          <a:xfrm>
            <a:off x="1257300" y="322631"/>
            <a:ext cx="4686300" cy="1549678"/>
            <a:chOff x="0" y="0"/>
            <a:chExt cx="21031200" cy="2066237"/>
          </a:xfrm>
        </p:grpSpPr>
        <p:sp>
          <p:nvSpPr>
            <p:cNvPr id="628" name="Google Shape;628;p22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629" name="Google Shape;629;p22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추가 분석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30" name="Google Shape;630;p22"/>
          <p:cNvCxnSpPr/>
          <p:nvPr/>
        </p:nvCxnSpPr>
        <p:spPr>
          <a:xfrm>
            <a:off x="1181103" y="2652150"/>
            <a:ext cx="2220293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22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2" name="Google Shape;632;p22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22"/>
          <p:cNvSpPr txBox="1"/>
          <p:nvPr/>
        </p:nvSpPr>
        <p:spPr>
          <a:xfrm>
            <a:off x="1381897" y="1818642"/>
            <a:ext cx="3723503" cy="734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지역별 재난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특성 비교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" name="Google Shape;6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3196" y="5672138"/>
            <a:ext cx="3890551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6139" y="5676900"/>
            <a:ext cx="3600000" cy="3504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58531" y="5676900"/>
            <a:ext cx="3816699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3752" y="681526"/>
            <a:ext cx="3607018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58531" y="700576"/>
            <a:ext cx="3662669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03948" y="1046083"/>
            <a:ext cx="1772043" cy="3173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3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46" name="Google Shape;646;p23"/>
          <p:cNvGrpSpPr/>
          <p:nvPr/>
        </p:nvGrpSpPr>
        <p:grpSpPr>
          <a:xfrm>
            <a:off x="1257300" y="322631"/>
            <a:ext cx="4686300" cy="1549678"/>
            <a:chOff x="0" y="0"/>
            <a:chExt cx="21031200" cy="2066237"/>
          </a:xfrm>
        </p:grpSpPr>
        <p:sp>
          <p:nvSpPr>
            <p:cNvPr id="647" name="Google Shape;647;p23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648" name="Google Shape;648;p23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추가 분석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9" name="Google Shape;649;p23"/>
          <p:cNvGrpSpPr/>
          <p:nvPr/>
        </p:nvGrpSpPr>
        <p:grpSpPr>
          <a:xfrm>
            <a:off x="1229497" y="1866900"/>
            <a:ext cx="4686300" cy="748351"/>
            <a:chOff x="0" y="0"/>
            <a:chExt cx="21031200" cy="997800"/>
          </a:xfrm>
        </p:grpSpPr>
        <p:sp>
          <p:nvSpPr>
            <p:cNvPr id="650" name="Google Shape;650;p23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651" name="Google Shape;651;p23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2" name="Google Shape;652;p23"/>
          <p:cNvCxnSpPr/>
          <p:nvPr/>
        </p:nvCxnSpPr>
        <p:spPr>
          <a:xfrm>
            <a:off x="1181103" y="2652150"/>
            <a:ext cx="2220293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3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3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23"/>
          <p:cNvSpPr txBox="1"/>
          <p:nvPr/>
        </p:nvSpPr>
        <p:spPr>
          <a:xfrm>
            <a:off x="1381897" y="2033588"/>
            <a:ext cx="3723503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월별 재난 분포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6" name="Google Shape;6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897" y="3162300"/>
            <a:ext cx="16052400" cy="64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63" name="Google Shape;663;p24"/>
          <p:cNvGrpSpPr/>
          <p:nvPr/>
        </p:nvGrpSpPr>
        <p:grpSpPr>
          <a:xfrm>
            <a:off x="1257300" y="322631"/>
            <a:ext cx="4686300" cy="1549678"/>
            <a:chOff x="0" y="0"/>
            <a:chExt cx="21031200" cy="2066237"/>
          </a:xfrm>
        </p:grpSpPr>
        <p:sp>
          <p:nvSpPr>
            <p:cNvPr id="664" name="Google Shape;664;p24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665" name="Google Shape;665;p24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추가 분석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p24"/>
          <p:cNvGrpSpPr/>
          <p:nvPr/>
        </p:nvGrpSpPr>
        <p:grpSpPr>
          <a:xfrm>
            <a:off x="1229497" y="1866900"/>
            <a:ext cx="4686300" cy="748351"/>
            <a:chOff x="0" y="0"/>
            <a:chExt cx="21031200" cy="997800"/>
          </a:xfrm>
        </p:grpSpPr>
        <p:sp>
          <p:nvSpPr>
            <p:cNvPr id="667" name="Google Shape;667;p24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668" name="Google Shape;668;p24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69" name="Google Shape;669;p24"/>
          <p:cNvCxnSpPr/>
          <p:nvPr/>
        </p:nvCxnSpPr>
        <p:spPr>
          <a:xfrm>
            <a:off x="1181103" y="2652150"/>
            <a:ext cx="2220293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p24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24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2" name="Google Shape;672;p24"/>
          <p:cNvSpPr txBox="1"/>
          <p:nvPr/>
        </p:nvSpPr>
        <p:spPr>
          <a:xfrm>
            <a:off x="1381897" y="2033588"/>
            <a:ext cx="3723503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월별 재난종류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특보 발생 패턴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3" name="Google Shape;673;p24"/>
          <p:cNvPicPr preferRelativeResize="0"/>
          <p:nvPr/>
        </p:nvPicPr>
        <p:blipFill rotWithShape="1">
          <a:blip r:embed="rId4">
            <a:alphaModFix/>
          </a:blip>
          <a:srcRect b="0" l="0" r="0" t="28397"/>
          <a:stretch/>
        </p:blipFill>
        <p:spPr>
          <a:xfrm>
            <a:off x="5606600" y="334537"/>
            <a:ext cx="9867900" cy="2886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24"/>
          <p:cNvPicPr preferRelativeResize="0"/>
          <p:nvPr/>
        </p:nvPicPr>
        <p:blipFill rotWithShape="1">
          <a:blip r:embed="rId5">
            <a:alphaModFix/>
          </a:blip>
          <a:srcRect b="7544" l="0" r="0" t="26255"/>
          <a:stretch/>
        </p:blipFill>
        <p:spPr>
          <a:xfrm>
            <a:off x="5606600" y="3220958"/>
            <a:ext cx="9867900" cy="2886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24"/>
          <p:cNvPicPr preferRelativeResize="0"/>
          <p:nvPr/>
        </p:nvPicPr>
        <p:blipFill rotWithShape="1">
          <a:blip r:embed="rId6">
            <a:alphaModFix/>
          </a:blip>
          <a:srcRect b="7633" l="0" r="0" t="23809"/>
          <a:stretch/>
        </p:blipFill>
        <p:spPr>
          <a:xfrm>
            <a:off x="5606600" y="6107379"/>
            <a:ext cx="9867900" cy="386311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4"/>
          <p:cNvSpPr txBox="1"/>
          <p:nvPr/>
        </p:nvSpPr>
        <p:spPr>
          <a:xfrm>
            <a:off x="15474500" y="2666960"/>
            <a:ext cx="25849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2023년도 기준</a:t>
            </a:r>
            <a:endParaRPr/>
          </a:p>
        </p:txBody>
      </p:sp>
      <p:sp>
        <p:nvSpPr>
          <p:cNvPr id="677" name="Google Shape;677;p24"/>
          <p:cNvSpPr txBox="1"/>
          <p:nvPr/>
        </p:nvSpPr>
        <p:spPr>
          <a:xfrm>
            <a:off x="15455450" y="5393988"/>
            <a:ext cx="25849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2024년도 기준</a:t>
            </a:r>
            <a:endParaRPr/>
          </a:p>
        </p:txBody>
      </p:sp>
      <p:sp>
        <p:nvSpPr>
          <p:cNvPr id="678" name="Google Shape;678;p24"/>
          <p:cNvSpPr txBox="1"/>
          <p:nvPr/>
        </p:nvSpPr>
        <p:spPr>
          <a:xfrm>
            <a:off x="15474500" y="8993800"/>
            <a:ext cx="25849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2025년도 기준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5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685" name="Google Shape;685;p25"/>
          <p:cNvGrpSpPr/>
          <p:nvPr/>
        </p:nvGrpSpPr>
        <p:grpSpPr>
          <a:xfrm>
            <a:off x="1257300" y="322631"/>
            <a:ext cx="4686300" cy="1549678"/>
            <a:chOff x="0" y="0"/>
            <a:chExt cx="21031200" cy="2066237"/>
          </a:xfrm>
        </p:grpSpPr>
        <p:sp>
          <p:nvSpPr>
            <p:cNvPr id="686" name="Google Shape;686;p25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687" name="Google Shape;687;p25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추가 분석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p25"/>
          <p:cNvGrpSpPr/>
          <p:nvPr/>
        </p:nvGrpSpPr>
        <p:grpSpPr>
          <a:xfrm>
            <a:off x="1229497" y="1866900"/>
            <a:ext cx="4686300" cy="748351"/>
            <a:chOff x="0" y="0"/>
            <a:chExt cx="21031200" cy="997800"/>
          </a:xfrm>
        </p:grpSpPr>
        <p:sp>
          <p:nvSpPr>
            <p:cNvPr id="689" name="Google Shape;689;p25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690" name="Google Shape;690;p25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91" name="Google Shape;691;p25"/>
          <p:cNvCxnSpPr/>
          <p:nvPr/>
        </p:nvCxnSpPr>
        <p:spPr>
          <a:xfrm>
            <a:off x="1181103" y="2652150"/>
            <a:ext cx="2220293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25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25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p25"/>
          <p:cNvSpPr txBox="1"/>
          <p:nvPr/>
        </p:nvSpPr>
        <p:spPr>
          <a:xfrm>
            <a:off x="1381897" y="1866900"/>
            <a:ext cx="3723503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지역별 비교 분석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5" name="Google Shape;695;p25"/>
          <p:cNvPicPr preferRelativeResize="0"/>
          <p:nvPr/>
        </p:nvPicPr>
        <p:blipFill rotWithShape="1">
          <a:blip r:embed="rId4">
            <a:alphaModFix/>
          </a:blip>
          <a:srcRect b="0" l="0" r="69944" t="0"/>
          <a:stretch/>
        </p:blipFill>
        <p:spPr>
          <a:xfrm>
            <a:off x="1162123" y="3561576"/>
            <a:ext cx="4478545" cy="600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25"/>
          <p:cNvPicPr preferRelativeResize="0"/>
          <p:nvPr/>
        </p:nvPicPr>
        <p:blipFill rotWithShape="1">
          <a:blip r:embed="rId4">
            <a:alphaModFix/>
          </a:blip>
          <a:srcRect b="0" l="34658" r="34659" t="0"/>
          <a:stretch/>
        </p:blipFill>
        <p:spPr>
          <a:xfrm>
            <a:off x="6800467" y="3561576"/>
            <a:ext cx="4572001" cy="600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25"/>
          <p:cNvPicPr preferRelativeResize="0"/>
          <p:nvPr/>
        </p:nvPicPr>
        <p:blipFill rotWithShape="1">
          <a:blip r:embed="rId4">
            <a:alphaModFix/>
          </a:blip>
          <a:srcRect b="-199" l="69548" r="-231" t="199"/>
          <a:stretch/>
        </p:blipFill>
        <p:spPr>
          <a:xfrm>
            <a:off x="12532267" y="3561576"/>
            <a:ext cx="4572001" cy="600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6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704" name="Google Shape;704;p26"/>
          <p:cNvGrpSpPr/>
          <p:nvPr/>
        </p:nvGrpSpPr>
        <p:grpSpPr>
          <a:xfrm>
            <a:off x="1257300" y="322631"/>
            <a:ext cx="4686300" cy="1549678"/>
            <a:chOff x="0" y="0"/>
            <a:chExt cx="21031200" cy="2066237"/>
          </a:xfrm>
        </p:grpSpPr>
        <p:sp>
          <p:nvSpPr>
            <p:cNvPr id="705" name="Google Shape;705;p26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706" name="Google Shape;706;p26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추가 분석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7" name="Google Shape;707;p26"/>
          <p:cNvGrpSpPr/>
          <p:nvPr/>
        </p:nvGrpSpPr>
        <p:grpSpPr>
          <a:xfrm>
            <a:off x="1229497" y="1866900"/>
            <a:ext cx="4686300" cy="748351"/>
            <a:chOff x="0" y="0"/>
            <a:chExt cx="21031200" cy="997800"/>
          </a:xfrm>
        </p:grpSpPr>
        <p:sp>
          <p:nvSpPr>
            <p:cNvPr id="708" name="Google Shape;708;p26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709" name="Google Shape;709;p26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10" name="Google Shape;710;p26"/>
          <p:cNvCxnSpPr/>
          <p:nvPr/>
        </p:nvCxnSpPr>
        <p:spPr>
          <a:xfrm>
            <a:off x="1181103" y="2652150"/>
            <a:ext cx="2220293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26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26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p26"/>
          <p:cNvSpPr txBox="1"/>
          <p:nvPr/>
        </p:nvSpPr>
        <p:spPr>
          <a:xfrm>
            <a:off x="1381897" y="1894842"/>
            <a:ext cx="4409303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재난 종류별 특보 발생 지역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4" name="Google Shape;71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4000" y="3019322"/>
            <a:ext cx="16020000" cy="70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27"/>
          <p:cNvGrpSpPr/>
          <p:nvPr/>
        </p:nvGrpSpPr>
        <p:grpSpPr>
          <a:xfrm>
            <a:off x="1257300" y="322631"/>
            <a:ext cx="4686300" cy="1549678"/>
            <a:chOff x="0" y="0"/>
            <a:chExt cx="21031200" cy="2066237"/>
          </a:xfrm>
        </p:grpSpPr>
        <p:sp>
          <p:nvSpPr>
            <p:cNvPr id="721" name="Google Shape;721;p27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722" name="Google Shape;722;p27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추가 분석</a:t>
              </a:r>
              <a:endParaRPr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3" name="Google Shape;723;p27"/>
          <p:cNvCxnSpPr/>
          <p:nvPr/>
        </p:nvCxnSpPr>
        <p:spPr>
          <a:xfrm>
            <a:off x="1181103" y="2652150"/>
            <a:ext cx="2220293" cy="0"/>
          </a:xfrm>
          <a:prstGeom prst="straightConnector1">
            <a:avLst/>
          </a:prstGeom>
          <a:noFill/>
          <a:ln cap="rnd" cmpd="sng" w="571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27"/>
          <p:cNvCxnSpPr/>
          <p:nvPr/>
        </p:nvCxnSpPr>
        <p:spPr>
          <a:xfrm>
            <a:off x="1883097" y="2652153"/>
            <a:ext cx="1518299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27"/>
          <p:cNvCxnSpPr/>
          <p:nvPr/>
        </p:nvCxnSpPr>
        <p:spPr>
          <a:xfrm>
            <a:off x="2585095" y="2652149"/>
            <a:ext cx="816301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6" name="Google Shape;726;p27"/>
          <p:cNvSpPr txBox="1"/>
          <p:nvPr/>
        </p:nvSpPr>
        <p:spPr>
          <a:xfrm>
            <a:off x="1381897" y="1866900"/>
            <a:ext cx="3723503" cy="734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특보등급별 재난 분포</a:t>
            </a:r>
            <a:endParaRPr sz="3000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7" name="Google Shape;72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4203" y="3009900"/>
            <a:ext cx="16019595" cy="70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8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733" name="Google Shape;733;p28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4" name="Google Shape;734;p28"/>
          <p:cNvSpPr/>
          <p:nvPr/>
        </p:nvSpPr>
        <p:spPr>
          <a:xfrm>
            <a:off x="1215095" y="3007662"/>
            <a:ext cx="7873079" cy="6659337"/>
          </a:xfrm>
          <a:custGeom>
            <a:rect b="b" l="l" r="r" t="t"/>
            <a:pathLst>
              <a:path extrusionOk="0" h="6659337" w="7873079">
                <a:moveTo>
                  <a:pt x="0" y="0"/>
                </a:moveTo>
                <a:lnTo>
                  <a:pt x="7873079" y="0"/>
                </a:lnTo>
                <a:lnTo>
                  <a:pt x="7873079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5" name="Google Shape;735;p28"/>
          <p:cNvSpPr txBox="1"/>
          <p:nvPr/>
        </p:nvSpPr>
        <p:spPr>
          <a:xfrm>
            <a:off x="1229497" y="4367241"/>
            <a:ext cx="7839494" cy="3221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6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97" lvl="1" marL="495393" marR="0" rtl="0" algn="l">
              <a:lnSpc>
                <a:spcPct val="240007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37"/>
              <a:buFont typeface="Arial"/>
              <a:buChar char="•"/>
            </a:pPr>
            <a:r>
              <a:rPr b="0" i="0" lang="en-US" sz="2737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모바일 앱 연동 및 GPS 활용</a:t>
            </a:r>
            <a:endParaRPr/>
          </a:p>
          <a:p>
            <a:pPr indent="-247697" lvl="1" marL="495393" marR="0" rtl="0" algn="l">
              <a:lnSpc>
                <a:spcPct val="240007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37"/>
              <a:buFont typeface="Arial"/>
              <a:buChar char="•"/>
            </a:pPr>
            <a:r>
              <a:rPr b="0" i="0" lang="en-US" sz="2737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실시간 알림 기능 연계</a:t>
            </a:r>
            <a:endParaRPr/>
          </a:p>
          <a:p>
            <a:pPr indent="-247697" lvl="1" marL="495393" marR="0" rtl="0" algn="l">
              <a:lnSpc>
                <a:spcPct val="240007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737"/>
              <a:buFont typeface="Arial"/>
              <a:buChar char="•"/>
            </a:pPr>
            <a:r>
              <a:rPr b="0" i="0" lang="en-US" sz="2737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다양한 경로 탐색 모드 확장</a:t>
            </a:r>
            <a:endParaRPr/>
          </a:p>
        </p:txBody>
      </p:sp>
      <p:grpSp>
        <p:nvGrpSpPr>
          <p:cNvPr id="736" name="Google Shape;736;p28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737" name="Google Shape;737;p28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738" name="Google Shape;738;p28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확장성 및 기대효과</a:t>
              </a:r>
              <a:endParaRPr/>
            </a:p>
          </p:txBody>
        </p:sp>
      </p:grpSp>
      <p:grpSp>
        <p:nvGrpSpPr>
          <p:cNvPr id="739" name="Google Shape;739;p28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740" name="Google Shape;740;p28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741" name="Google Shape;741;p28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시스템의 향후 발전 가능성과 실질적인 사회적 가치 창출</a:t>
              </a:r>
              <a:endParaRPr/>
            </a:p>
          </p:txBody>
        </p:sp>
      </p:grpSp>
      <p:cxnSp>
        <p:nvCxnSpPr>
          <p:cNvPr id="742" name="Google Shape;742;p28"/>
          <p:cNvCxnSpPr/>
          <p:nvPr/>
        </p:nvCxnSpPr>
        <p:spPr>
          <a:xfrm>
            <a:off x="1181103" y="2652150"/>
            <a:ext cx="2204566" cy="0"/>
          </a:xfrm>
          <a:prstGeom prst="straightConnector1">
            <a:avLst/>
          </a:prstGeom>
          <a:noFill/>
          <a:ln cap="rnd" cmpd="sng" w="5715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3" name="Google Shape;743;p28"/>
          <p:cNvGrpSpPr/>
          <p:nvPr/>
        </p:nvGrpSpPr>
        <p:grpSpPr>
          <a:xfrm>
            <a:off x="1233488" y="3315176"/>
            <a:ext cx="7835550" cy="1296448"/>
            <a:chOff x="0" y="0"/>
            <a:chExt cx="10447401" cy="1728597"/>
          </a:xfrm>
        </p:grpSpPr>
        <p:sp>
          <p:nvSpPr>
            <p:cNvPr id="744" name="Google Shape;744;p28"/>
            <p:cNvSpPr/>
            <p:nvPr/>
          </p:nvSpPr>
          <p:spPr>
            <a:xfrm>
              <a:off x="12700" y="12700"/>
              <a:ext cx="10422001" cy="1703197"/>
            </a:xfrm>
            <a:custGeom>
              <a:rect b="b" l="l" r="r" t="t"/>
              <a:pathLst>
                <a:path extrusionOk="0" h="1703197" w="10422001">
                  <a:moveTo>
                    <a:pt x="0" y="0"/>
                  </a:moveTo>
                  <a:lnTo>
                    <a:pt x="10422001" y="0"/>
                  </a:lnTo>
                  <a:lnTo>
                    <a:pt x="10422001" y="1703197"/>
                  </a:lnTo>
                  <a:lnTo>
                    <a:pt x="0" y="1703197"/>
                  </a:lnTo>
                  <a:close/>
                </a:path>
              </a:pathLst>
            </a:custGeom>
            <a:solidFill>
              <a:srgbClr val="E2F0D9"/>
            </a:solidFill>
            <a:ln>
              <a:noFill/>
            </a:ln>
          </p:spPr>
        </p:sp>
        <p:sp>
          <p:nvSpPr>
            <p:cNvPr id="745" name="Google Shape;745;p28"/>
            <p:cNvSpPr/>
            <p:nvPr/>
          </p:nvSpPr>
          <p:spPr>
            <a:xfrm>
              <a:off x="0" y="0"/>
              <a:ext cx="10447401" cy="1728597"/>
            </a:xfrm>
            <a:custGeom>
              <a:rect b="b" l="l" r="r" t="t"/>
              <a:pathLst>
                <a:path extrusionOk="0" h="1728597" w="10447401">
                  <a:moveTo>
                    <a:pt x="12700" y="0"/>
                  </a:moveTo>
                  <a:lnTo>
                    <a:pt x="10434701" y="0"/>
                  </a:lnTo>
                  <a:cubicBezTo>
                    <a:pt x="10441686" y="0"/>
                    <a:pt x="10447401" y="5715"/>
                    <a:pt x="10447401" y="12700"/>
                  </a:cubicBezTo>
                  <a:lnTo>
                    <a:pt x="10447401" y="1715897"/>
                  </a:lnTo>
                  <a:cubicBezTo>
                    <a:pt x="10447401" y="1722882"/>
                    <a:pt x="10441686" y="1728597"/>
                    <a:pt x="10434701" y="1728597"/>
                  </a:cubicBezTo>
                  <a:lnTo>
                    <a:pt x="12700" y="1728597"/>
                  </a:lnTo>
                  <a:cubicBezTo>
                    <a:pt x="5715" y="1728597"/>
                    <a:pt x="0" y="1722882"/>
                    <a:pt x="0" y="171589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15897"/>
                  </a:lnTo>
                  <a:lnTo>
                    <a:pt x="12700" y="1715897"/>
                  </a:lnTo>
                  <a:lnTo>
                    <a:pt x="12700" y="1703197"/>
                  </a:lnTo>
                  <a:lnTo>
                    <a:pt x="10434701" y="1703197"/>
                  </a:lnTo>
                  <a:lnTo>
                    <a:pt x="10434701" y="1715897"/>
                  </a:lnTo>
                  <a:lnTo>
                    <a:pt x="10422001" y="1715897"/>
                  </a:lnTo>
                  <a:lnTo>
                    <a:pt x="10422001" y="12700"/>
                  </a:lnTo>
                  <a:lnTo>
                    <a:pt x="10434701" y="12700"/>
                  </a:lnTo>
                  <a:lnTo>
                    <a:pt x="1043470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28"/>
          <p:cNvSpPr txBox="1"/>
          <p:nvPr/>
        </p:nvSpPr>
        <p:spPr>
          <a:xfrm>
            <a:off x="1257300" y="3648313"/>
            <a:ext cx="7811691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2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확장성</a:t>
            </a:r>
            <a:endParaRPr/>
          </a:p>
        </p:txBody>
      </p:sp>
      <p:sp>
        <p:nvSpPr>
          <p:cNvPr id="747" name="Google Shape;747;p28"/>
          <p:cNvSpPr/>
          <p:nvPr/>
        </p:nvSpPr>
        <p:spPr>
          <a:xfrm>
            <a:off x="9199826" y="3007662"/>
            <a:ext cx="7873079" cy="6659337"/>
          </a:xfrm>
          <a:custGeom>
            <a:rect b="b" l="l" r="r" t="t"/>
            <a:pathLst>
              <a:path extrusionOk="0" h="6659337" w="7873079">
                <a:moveTo>
                  <a:pt x="0" y="0"/>
                </a:moveTo>
                <a:lnTo>
                  <a:pt x="7873079" y="0"/>
                </a:lnTo>
                <a:lnTo>
                  <a:pt x="7873079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8" name="Google Shape;748;p28"/>
          <p:cNvSpPr txBox="1"/>
          <p:nvPr/>
        </p:nvSpPr>
        <p:spPr>
          <a:xfrm>
            <a:off x="9218228" y="4376766"/>
            <a:ext cx="7761351" cy="3179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316" lvl="1" marL="488632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초기 대응 시간(골든타임) 단축</a:t>
            </a:r>
            <a:endParaRPr/>
          </a:p>
          <a:p>
            <a:pPr indent="-244316" lvl="1" marL="488632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낯선 환경에서도 대피 방향 판단 가능</a:t>
            </a:r>
            <a:endParaRPr/>
          </a:p>
          <a:p>
            <a:pPr indent="-244316" lvl="1" marL="488632" marR="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행동 가능한 재난 대응 서비스 구현</a:t>
            </a:r>
            <a:endParaRPr/>
          </a:p>
        </p:txBody>
      </p:sp>
      <p:grpSp>
        <p:nvGrpSpPr>
          <p:cNvPr id="749" name="Google Shape;749;p28"/>
          <p:cNvGrpSpPr/>
          <p:nvPr/>
        </p:nvGrpSpPr>
        <p:grpSpPr>
          <a:xfrm>
            <a:off x="9218228" y="3315176"/>
            <a:ext cx="7835550" cy="1296448"/>
            <a:chOff x="0" y="0"/>
            <a:chExt cx="10447401" cy="1728597"/>
          </a:xfrm>
        </p:grpSpPr>
        <p:sp>
          <p:nvSpPr>
            <p:cNvPr id="750" name="Google Shape;750;p28"/>
            <p:cNvSpPr/>
            <p:nvPr/>
          </p:nvSpPr>
          <p:spPr>
            <a:xfrm>
              <a:off x="12700" y="12700"/>
              <a:ext cx="10422001" cy="1703197"/>
            </a:xfrm>
            <a:custGeom>
              <a:rect b="b" l="l" r="r" t="t"/>
              <a:pathLst>
                <a:path extrusionOk="0" h="1703197" w="10422001">
                  <a:moveTo>
                    <a:pt x="0" y="0"/>
                  </a:moveTo>
                  <a:lnTo>
                    <a:pt x="10422001" y="0"/>
                  </a:lnTo>
                  <a:lnTo>
                    <a:pt x="10422001" y="1703197"/>
                  </a:lnTo>
                  <a:lnTo>
                    <a:pt x="0" y="1703197"/>
                  </a:lnTo>
                  <a:close/>
                </a:path>
              </a:pathLst>
            </a:custGeom>
            <a:solidFill>
              <a:srgbClr val="F7E7FF"/>
            </a:solidFill>
            <a:ln>
              <a:noFill/>
            </a:ln>
          </p:spPr>
        </p:sp>
        <p:sp>
          <p:nvSpPr>
            <p:cNvPr id="751" name="Google Shape;751;p28"/>
            <p:cNvSpPr/>
            <p:nvPr/>
          </p:nvSpPr>
          <p:spPr>
            <a:xfrm>
              <a:off x="0" y="0"/>
              <a:ext cx="10447401" cy="1728597"/>
            </a:xfrm>
            <a:custGeom>
              <a:rect b="b" l="l" r="r" t="t"/>
              <a:pathLst>
                <a:path extrusionOk="0" h="1728597" w="10447401">
                  <a:moveTo>
                    <a:pt x="12700" y="0"/>
                  </a:moveTo>
                  <a:lnTo>
                    <a:pt x="10434701" y="0"/>
                  </a:lnTo>
                  <a:cubicBezTo>
                    <a:pt x="10441686" y="0"/>
                    <a:pt x="10447401" y="5715"/>
                    <a:pt x="10447401" y="12700"/>
                  </a:cubicBezTo>
                  <a:lnTo>
                    <a:pt x="10447401" y="1715897"/>
                  </a:lnTo>
                  <a:cubicBezTo>
                    <a:pt x="10447401" y="1722882"/>
                    <a:pt x="10441686" y="1728597"/>
                    <a:pt x="10434701" y="1728597"/>
                  </a:cubicBezTo>
                  <a:lnTo>
                    <a:pt x="12700" y="1728597"/>
                  </a:lnTo>
                  <a:cubicBezTo>
                    <a:pt x="5715" y="1728597"/>
                    <a:pt x="0" y="1722882"/>
                    <a:pt x="0" y="171589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15897"/>
                  </a:lnTo>
                  <a:lnTo>
                    <a:pt x="12700" y="1715897"/>
                  </a:lnTo>
                  <a:lnTo>
                    <a:pt x="12700" y="1703197"/>
                  </a:lnTo>
                  <a:lnTo>
                    <a:pt x="10434701" y="1703197"/>
                  </a:lnTo>
                  <a:lnTo>
                    <a:pt x="10434701" y="1715897"/>
                  </a:lnTo>
                  <a:lnTo>
                    <a:pt x="10422001" y="1715897"/>
                  </a:lnTo>
                  <a:lnTo>
                    <a:pt x="10422001" y="12700"/>
                  </a:lnTo>
                  <a:lnTo>
                    <a:pt x="10434701" y="12700"/>
                  </a:lnTo>
                  <a:lnTo>
                    <a:pt x="1043470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D9C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2" name="Google Shape;752;p28"/>
          <p:cNvSpPr txBox="1"/>
          <p:nvPr/>
        </p:nvSpPr>
        <p:spPr>
          <a:xfrm>
            <a:off x="9218228" y="3658610"/>
            <a:ext cx="781247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기대효과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7FB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9"/>
          <p:cNvSpPr/>
          <p:nvPr/>
        </p:nvSpPr>
        <p:spPr>
          <a:xfrm>
            <a:off x="1" y="-19050"/>
            <a:ext cx="18288000" cy="2756059"/>
          </a:xfrm>
          <a:custGeom>
            <a:rect b="b" l="l" r="r" t="t"/>
            <a:pathLst>
              <a:path extrusionOk="0" h="3674745" w="24384000">
                <a:moveTo>
                  <a:pt x="0" y="0"/>
                </a:moveTo>
                <a:lnTo>
                  <a:pt x="24384000" y="0"/>
                </a:lnTo>
                <a:lnTo>
                  <a:pt x="24384000" y="3674745"/>
                </a:lnTo>
                <a:lnTo>
                  <a:pt x="0" y="36747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cxnSp>
        <p:nvCxnSpPr>
          <p:cNvPr id="758" name="Google Shape;758;p29"/>
          <p:cNvCxnSpPr/>
          <p:nvPr/>
        </p:nvCxnSpPr>
        <p:spPr>
          <a:xfrm rot="3600">
            <a:off x="-9535" y="2751372"/>
            <a:ext cx="1830706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9" name="Google Shape;759;p29"/>
          <p:cNvGrpSpPr/>
          <p:nvPr/>
        </p:nvGrpSpPr>
        <p:grpSpPr>
          <a:xfrm>
            <a:off x="1257300" y="322631"/>
            <a:ext cx="15773400" cy="1549678"/>
            <a:chOff x="0" y="0"/>
            <a:chExt cx="21031200" cy="2066237"/>
          </a:xfrm>
        </p:grpSpPr>
        <p:sp>
          <p:nvSpPr>
            <p:cNvPr id="760" name="Google Shape;760;p29"/>
            <p:cNvSpPr/>
            <p:nvPr/>
          </p:nvSpPr>
          <p:spPr>
            <a:xfrm>
              <a:off x="0" y="0"/>
              <a:ext cx="21031200" cy="2066237"/>
            </a:xfrm>
            <a:custGeom>
              <a:rect b="b" l="l" r="r" t="t"/>
              <a:pathLst>
                <a:path extrusionOk="0" h="20662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66237"/>
                  </a:lnTo>
                  <a:lnTo>
                    <a:pt x="0" y="206623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8334" l="0" r="0" t="-148334"/>
              </a:stretch>
            </a:blipFill>
            <a:ln>
              <a:noFill/>
            </a:ln>
          </p:spPr>
        </p:sp>
        <p:sp>
          <p:nvSpPr>
            <p:cNvPr id="761" name="Google Shape;761;p29"/>
            <p:cNvSpPr txBox="1"/>
            <p:nvPr/>
          </p:nvSpPr>
          <p:spPr>
            <a:xfrm>
              <a:off x="0" y="66675"/>
              <a:ext cx="21031200" cy="1999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결론</a:t>
              </a:r>
              <a:endParaRPr/>
            </a:p>
          </p:txBody>
        </p:sp>
      </p:grpSp>
      <p:grpSp>
        <p:nvGrpSpPr>
          <p:cNvPr id="762" name="Google Shape;762;p29"/>
          <p:cNvGrpSpPr/>
          <p:nvPr/>
        </p:nvGrpSpPr>
        <p:grpSpPr>
          <a:xfrm>
            <a:off x="1229497" y="1866900"/>
            <a:ext cx="15773400" cy="748351"/>
            <a:chOff x="0" y="0"/>
            <a:chExt cx="21031200" cy="997800"/>
          </a:xfrm>
        </p:grpSpPr>
        <p:sp>
          <p:nvSpPr>
            <p:cNvPr id="763" name="Google Shape;763;p29"/>
            <p:cNvSpPr/>
            <p:nvPr/>
          </p:nvSpPr>
          <p:spPr>
            <a:xfrm>
              <a:off x="0" y="0"/>
              <a:ext cx="21031200" cy="997800"/>
            </a:xfrm>
            <a:custGeom>
              <a:rect b="b" l="l" r="r" t="t"/>
              <a:pathLst>
                <a:path extrusionOk="0" h="997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97800"/>
                  </a:lnTo>
                  <a:lnTo>
                    <a:pt x="0" y="997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0711" l="0" r="0" t="-360711"/>
              </a:stretch>
            </a:blipFill>
            <a:ln>
              <a:noFill/>
            </a:ln>
          </p:spPr>
        </p:sp>
        <p:sp>
          <p:nvSpPr>
            <p:cNvPr id="764" name="Google Shape;764;p29"/>
            <p:cNvSpPr txBox="1"/>
            <p:nvPr/>
          </p:nvSpPr>
          <p:spPr>
            <a:xfrm>
              <a:off x="0" y="19050"/>
              <a:ext cx="21031200" cy="97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6A6A6"/>
                  </a:solidFill>
                  <a:latin typeface="Arial"/>
                  <a:ea typeface="Arial"/>
                  <a:cs typeface="Arial"/>
                  <a:sym typeface="Arial"/>
                </a:rPr>
                <a:t>프로젝트 핵심 요약 및 향후 발전 방향</a:t>
              </a:r>
              <a:endParaRPr/>
            </a:p>
          </p:txBody>
        </p:sp>
      </p:grpSp>
      <p:cxnSp>
        <p:nvCxnSpPr>
          <p:cNvPr id="765" name="Google Shape;765;p29"/>
          <p:cNvCxnSpPr/>
          <p:nvPr/>
        </p:nvCxnSpPr>
        <p:spPr>
          <a:xfrm>
            <a:off x="1181103" y="2652150"/>
            <a:ext cx="2188726" cy="0"/>
          </a:xfrm>
          <a:prstGeom prst="straightConnector1">
            <a:avLst/>
          </a:prstGeom>
          <a:noFill/>
          <a:ln cap="rnd" cmpd="sng" w="571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6" name="Google Shape;766;p29"/>
          <p:cNvSpPr/>
          <p:nvPr/>
        </p:nvSpPr>
        <p:spPr>
          <a:xfrm>
            <a:off x="981485" y="3102254"/>
            <a:ext cx="3819173" cy="6659337"/>
          </a:xfrm>
          <a:custGeom>
            <a:rect b="b" l="l" r="r" t="t"/>
            <a:pathLst>
              <a:path extrusionOk="0" h="6659337" w="3819173">
                <a:moveTo>
                  <a:pt x="0" y="0"/>
                </a:moveTo>
                <a:lnTo>
                  <a:pt x="3819172" y="0"/>
                </a:lnTo>
                <a:lnTo>
                  <a:pt x="3819172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7" name="Google Shape;767;p29"/>
          <p:cNvSpPr txBox="1"/>
          <p:nvPr/>
        </p:nvSpPr>
        <p:spPr>
          <a:xfrm>
            <a:off x="1336177" y="4924249"/>
            <a:ext cx="17880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DC3E6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/>
          </a:p>
        </p:txBody>
      </p:sp>
      <p:sp>
        <p:nvSpPr>
          <p:cNvPr id="768" name="Google Shape;768;p29"/>
          <p:cNvSpPr txBox="1"/>
          <p:nvPr/>
        </p:nvSpPr>
        <p:spPr>
          <a:xfrm>
            <a:off x="1586484" y="5302196"/>
            <a:ext cx="257513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출발점</a:t>
            </a:r>
            <a:endParaRPr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9" name="Google Shape;769;p29"/>
          <p:cNvCxnSpPr/>
          <p:nvPr/>
        </p:nvCxnSpPr>
        <p:spPr>
          <a:xfrm>
            <a:off x="1666875" y="5942363"/>
            <a:ext cx="624368" cy="0"/>
          </a:xfrm>
          <a:prstGeom prst="straightConnector1">
            <a:avLst/>
          </a:prstGeom>
          <a:noFill/>
          <a:ln cap="rnd" cmpd="sng" w="28575">
            <a:solidFill>
              <a:srgbClr val="62B2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p29"/>
          <p:cNvSpPr txBox="1"/>
          <p:nvPr/>
        </p:nvSpPr>
        <p:spPr>
          <a:xfrm>
            <a:off x="1173509" y="6217920"/>
            <a:ext cx="3435125" cy="202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재난문자 수신 피로감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단순 정보 전달의 한계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대피의 직관적 판단 지원 부재</a:t>
            </a:r>
            <a:endParaRPr/>
          </a:p>
        </p:txBody>
      </p:sp>
      <p:sp>
        <p:nvSpPr>
          <p:cNvPr id="771" name="Google Shape;771;p29"/>
          <p:cNvSpPr/>
          <p:nvPr/>
        </p:nvSpPr>
        <p:spPr>
          <a:xfrm>
            <a:off x="13487333" y="3102254"/>
            <a:ext cx="3819182" cy="6659337"/>
          </a:xfrm>
          <a:custGeom>
            <a:rect b="b" l="l" r="r" t="t"/>
            <a:pathLst>
              <a:path extrusionOk="0" h="6659337" w="3819182">
                <a:moveTo>
                  <a:pt x="0" y="0"/>
                </a:moveTo>
                <a:lnTo>
                  <a:pt x="3819182" y="0"/>
                </a:lnTo>
                <a:lnTo>
                  <a:pt x="3819182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2" name="Google Shape;772;p29"/>
          <p:cNvSpPr txBox="1"/>
          <p:nvPr/>
        </p:nvSpPr>
        <p:spPr>
          <a:xfrm>
            <a:off x="13903090" y="4925778"/>
            <a:ext cx="17880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STEP 04</a:t>
            </a:r>
            <a:endParaRPr/>
          </a:p>
        </p:txBody>
      </p:sp>
      <p:sp>
        <p:nvSpPr>
          <p:cNvPr id="773" name="Google Shape;773;p29"/>
          <p:cNvSpPr txBox="1"/>
          <p:nvPr/>
        </p:nvSpPr>
        <p:spPr>
          <a:xfrm>
            <a:off x="14092333" y="5302196"/>
            <a:ext cx="260918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향후 방향</a:t>
            </a:r>
            <a:endParaRPr/>
          </a:p>
        </p:txBody>
      </p:sp>
      <p:cxnSp>
        <p:nvCxnSpPr>
          <p:cNvPr id="774" name="Google Shape;774;p29"/>
          <p:cNvCxnSpPr/>
          <p:nvPr/>
        </p:nvCxnSpPr>
        <p:spPr>
          <a:xfrm>
            <a:off x="14172724" y="5942363"/>
            <a:ext cx="624378" cy="0"/>
          </a:xfrm>
          <a:prstGeom prst="straightConnector1">
            <a:avLst/>
          </a:prstGeom>
          <a:noFill/>
          <a:ln cap="rnd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5" name="Google Shape;775;p29"/>
          <p:cNvSpPr txBox="1"/>
          <p:nvPr/>
        </p:nvSpPr>
        <p:spPr>
          <a:xfrm>
            <a:off x="13679367" y="6217920"/>
            <a:ext cx="3435125" cy="202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GPS ·  앱 연동을 통한 실시간 서비스 확장 가능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모바일 앱 구현을 통해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 서비스로의 확장 추진</a:t>
            </a:r>
            <a:endParaRPr/>
          </a:p>
        </p:txBody>
      </p:sp>
      <p:sp>
        <p:nvSpPr>
          <p:cNvPr id="776" name="Google Shape;776;p29"/>
          <p:cNvSpPr/>
          <p:nvPr/>
        </p:nvSpPr>
        <p:spPr>
          <a:xfrm>
            <a:off x="5150101" y="3102254"/>
            <a:ext cx="3819182" cy="6659337"/>
          </a:xfrm>
          <a:custGeom>
            <a:rect b="b" l="l" r="r" t="t"/>
            <a:pathLst>
              <a:path extrusionOk="0" h="6659337" w="3819182">
                <a:moveTo>
                  <a:pt x="0" y="0"/>
                </a:moveTo>
                <a:lnTo>
                  <a:pt x="3819182" y="0"/>
                </a:lnTo>
                <a:lnTo>
                  <a:pt x="3819182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7" name="Google Shape;777;p29"/>
          <p:cNvSpPr txBox="1"/>
          <p:nvPr/>
        </p:nvSpPr>
        <p:spPr>
          <a:xfrm>
            <a:off x="5519766" y="4924249"/>
            <a:ext cx="17880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D9CE8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/>
          </a:p>
        </p:txBody>
      </p:sp>
      <p:sp>
        <p:nvSpPr>
          <p:cNvPr id="778" name="Google Shape;778;p29"/>
          <p:cNvSpPr txBox="1"/>
          <p:nvPr/>
        </p:nvSpPr>
        <p:spPr>
          <a:xfrm>
            <a:off x="5709009" y="5299138"/>
            <a:ext cx="277405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시스템 발전</a:t>
            </a:r>
            <a:endParaRPr/>
          </a:p>
        </p:txBody>
      </p:sp>
      <p:cxnSp>
        <p:nvCxnSpPr>
          <p:cNvPr id="779" name="Google Shape;779;p29"/>
          <p:cNvCxnSpPr/>
          <p:nvPr/>
        </p:nvCxnSpPr>
        <p:spPr>
          <a:xfrm>
            <a:off x="5789400" y="5939305"/>
            <a:ext cx="624378" cy="0"/>
          </a:xfrm>
          <a:prstGeom prst="straightConnector1">
            <a:avLst/>
          </a:prstGeom>
          <a:noFill/>
          <a:ln cap="rnd" cmpd="sng" w="28575">
            <a:solidFill>
              <a:srgbClr val="BD9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0" name="Google Shape;780;p29"/>
          <p:cNvSpPr txBox="1"/>
          <p:nvPr/>
        </p:nvSpPr>
        <p:spPr>
          <a:xfrm>
            <a:off x="5342125" y="6214862"/>
            <a:ext cx="3435125" cy="161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초기 시스템의 한계점 극복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크롤링과 OSRM을 활용하여   실시간 추천 시스템으로 전환</a:t>
            </a:r>
            <a:endParaRPr/>
          </a:p>
        </p:txBody>
      </p:sp>
      <p:sp>
        <p:nvSpPr>
          <p:cNvPr id="781" name="Google Shape;781;p29"/>
          <p:cNvSpPr/>
          <p:nvPr/>
        </p:nvSpPr>
        <p:spPr>
          <a:xfrm>
            <a:off x="9318717" y="3102254"/>
            <a:ext cx="3819182" cy="6659337"/>
          </a:xfrm>
          <a:custGeom>
            <a:rect b="b" l="l" r="r" t="t"/>
            <a:pathLst>
              <a:path extrusionOk="0" h="6659337" w="3819182">
                <a:moveTo>
                  <a:pt x="0" y="0"/>
                </a:moveTo>
                <a:lnTo>
                  <a:pt x="3819182" y="0"/>
                </a:lnTo>
                <a:lnTo>
                  <a:pt x="3819182" y="6659337"/>
                </a:lnTo>
                <a:lnTo>
                  <a:pt x="0" y="66593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2" name="Google Shape;782;p29"/>
          <p:cNvSpPr txBox="1"/>
          <p:nvPr/>
        </p:nvSpPr>
        <p:spPr>
          <a:xfrm>
            <a:off x="9711423" y="4922720"/>
            <a:ext cx="17880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B93C7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/>
          </a:p>
        </p:txBody>
      </p:sp>
      <p:sp>
        <p:nvSpPr>
          <p:cNvPr id="783" name="Google Shape;783;p29"/>
          <p:cNvSpPr txBox="1"/>
          <p:nvPr/>
        </p:nvSpPr>
        <p:spPr>
          <a:xfrm>
            <a:off x="9900666" y="5299138"/>
            <a:ext cx="260785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 성과</a:t>
            </a:r>
            <a:endParaRPr/>
          </a:p>
        </p:txBody>
      </p:sp>
      <p:cxnSp>
        <p:nvCxnSpPr>
          <p:cNvPr id="784" name="Google Shape;784;p29"/>
          <p:cNvCxnSpPr/>
          <p:nvPr/>
        </p:nvCxnSpPr>
        <p:spPr>
          <a:xfrm>
            <a:off x="9981057" y="5939305"/>
            <a:ext cx="624378" cy="0"/>
          </a:xfrm>
          <a:prstGeom prst="straightConnector1">
            <a:avLst/>
          </a:prstGeom>
          <a:noFill/>
          <a:ln cap="rnd" cmpd="sng" w="28575">
            <a:solidFill>
              <a:srgbClr val="FB93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5" name="Google Shape;785;p29"/>
          <p:cNvSpPr txBox="1"/>
          <p:nvPr/>
        </p:nvSpPr>
        <p:spPr>
          <a:xfrm>
            <a:off x="9510741" y="6205909"/>
            <a:ext cx="3435125" cy="202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 위치와 재난 유형을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동시에 반영한 맞춤형 안내</a:t>
            </a:r>
            <a:endParaRPr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정보 전달을 넘어 행동으로       이어지는 지원 체계 확립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62C75"/>
            </a:gs>
            <a:gs pos="40000">
              <a:srgbClr val="1F4875"/>
            </a:gs>
            <a:gs pos="63000">
              <a:srgbClr val="195076"/>
            </a:gs>
            <a:gs pos="100000">
              <a:srgbClr val="431C76"/>
            </a:gs>
          </a:gsLst>
          <a:lin ang="3638535" scaled="0"/>
        </a:gra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0"/>
          <p:cNvSpPr/>
          <p:nvPr/>
        </p:nvSpPr>
        <p:spPr>
          <a:xfrm>
            <a:off x="0" y="-1057"/>
            <a:ext cx="4338256" cy="4508754"/>
          </a:xfrm>
          <a:custGeom>
            <a:rect b="b" l="l" r="r" t="t"/>
            <a:pathLst>
              <a:path extrusionOk="0" h="6011672" w="5784342">
                <a:moveTo>
                  <a:pt x="0" y="0"/>
                </a:moveTo>
                <a:lnTo>
                  <a:pt x="5784342" y="0"/>
                </a:lnTo>
                <a:lnTo>
                  <a:pt x="5784342" y="6011672"/>
                </a:lnTo>
                <a:lnTo>
                  <a:pt x="0" y="6011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-59020" r="0" t="-53007"/>
            </a:stretch>
          </a:blipFill>
          <a:ln>
            <a:noFill/>
          </a:ln>
        </p:spPr>
      </p:sp>
      <p:grpSp>
        <p:nvGrpSpPr>
          <p:cNvPr id="791" name="Google Shape;791;p30"/>
          <p:cNvGrpSpPr/>
          <p:nvPr/>
        </p:nvGrpSpPr>
        <p:grpSpPr>
          <a:xfrm>
            <a:off x="1524000" y="3949303"/>
            <a:ext cx="15240000" cy="2388392"/>
            <a:chOff x="0" y="0"/>
            <a:chExt cx="20320000" cy="3184522"/>
          </a:xfrm>
        </p:grpSpPr>
        <p:sp>
          <p:nvSpPr>
            <p:cNvPr id="792" name="Google Shape;792;p30"/>
            <p:cNvSpPr/>
            <p:nvPr/>
          </p:nvSpPr>
          <p:spPr>
            <a:xfrm>
              <a:off x="0" y="0"/>
              <a:ext cx="20320000" cy="3184519"/>
            </a:xfrm>
            <a:custGeom>
              <a:rect b="b" l="l" r="r" t="t"/>
              <a:pathLst>
                <a:path extrusionOk="0" h="3184519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3184519"/>
                  </a:lnTo>
                  <a:lnTo>
                    <a:pt x="0" y="318451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329" l="0" r="0" t="-74329"/>
              </a:stretch>
            </a:blipFill>
            <a:ln>
              <a:noFill/>
            </a:ln>
          </p:spPr>
        </p:sp>
        <p:sp>
          <p:nvSpPr>
            <p:cNvPr id="793" name="Google Shape;793;p30"/>
            <p:cNvSpPr txBox="1"/>
            <p:nvPr/>
          </p:nvSpPr>
          <p:spPr>
            <a:xfrm>
              <a:off x="0" y="123825"/>
              <a:ext cx="20320000" cy="3060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Q &amp; A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62C75"/>
            </a:gs>
            <a:gs pos="40000">
              <a:srgbClr val="1F4875"/>
            </a:gs>
            <a:gs pos="63000">
              <a:srgbClr val="195076"/>
            </a:gs>
            <a:gs pos="100000">
              <a:srgbClr val="431C76"/>
            </a:gs>
          </a:gsLst>
          <a:lin ang="3638535" scaled="0"/>
        </a:gra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1"/>
          <p:cNvSpPr/>
          <p:nvPr/>
        </p:nvSpPr>
        <p:spPr>
          <a:xfrm>
            <a:off x="0" y="-1057"/>
            <a:ext cx="4338256" cy="4508754"/>
          </a:xfrm>
          <a:custGeom>
            <a:rect b="b" l="l" r="r" t="t"/>
            <a:pathLst>
              <a:path extrusionOk="0" h="6011672" w="5784342">
                <a:moveTo>
                  <a:pt x="0" y="0"/>
                </a:moveTo>
                <a:lnTo>
                  <a:pt x="5784342" y="0"/>
                </a:lnTo>
                <a:lnTo>
                  <a:pt x="5784342" y="6011672"/>
                </a:lnTo>
                <a:lnTo>
                  <a:pt x="0" y="6011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-59020" r="0" t="-53007"/>
            </a:stretch>
          </a:blipFill>
          <a:ln>
            <a:noFill/>
          </a:ln>
        </p:spPr>
      </p:sp>
      <p:grpSp>
        <p:nvGrpSpPr>
          <p:cNvPr id="799" name="Google Shape;799;p31"/>
          <p:cNvGrpSpPr/>
          <p:nvPr/>
        </p:nvGrpSpPr>
        <p:grpSpPr>
          <a:xfrm>
            <a:off x="1524000" y="3949303"/>
            <a:ext cx="15240000" cy="2388392"/>
            <a:chOff x="0" y="0"/>
            <a:chExt cx="20320000" cy="3184522"/>
          </a:xfrm>
        </p:grpSpPr>
        <p:sp>
          <p:nvSpPr>
            <p:cNvPr id="800" name="Google Shape;800;p31"/>
            <p:cNvSpPr/>
            <p:nvPr/>
          </p:nvSpPr>
          <p:spPr>
            <a:xfrm>
              <a:off x="0" y="0"/>
              <a:ext cx="20320000" cy="3184519"/>
            </a:xfrm>
            <a:custGeom>
              <a:rect b="b" l="l" r="r" t="t"/>
              <a:pathLst>
                <a:path extrusionOk="0" h="3184519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3184519"/>
                  </a:lnTo>
                  <a:lnTo>
                    <a:pt x="0" y="318451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329" l="0" r="0" t="-74329"/>
              </a:stretch>
            </a:blipFill>
            <a:ln>
              <a:noFill/>
            </a:ln>
          </p:spPr>
        </p:sp>
        <p:sp>
          <p:nvSpPr>
            <p:cNvPr id="801" name="Google Shape;801;p31"/>
            <p:cNvSpPr txBox="1"/>
            <p:nvPr/>
          </p:nvSpPr>
          <p:spPr>
            <a:xfrm>
              <a:off x="0" y="123825"/>
              <a:ext cx="20320000" cy="30606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</dc:creator>
</cp:coreProperties>
</file>